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90" r:id="rId6"/>
    <p:sldId id="291" r:id="rId7"/>
    <p:sldId id="292" r:id="rId8"/>
    <p:sldId id="293" r:id="rId9"/>
    <p:sldId id="294" r:id="rId10"/>
    <p:sldId id="295" r:id="rId11"/>
    <p:sldId id="296" r:id="rId12"/>
    <p:sldId id="283" r:id="rId13"/>
    <p:sldId id="297" r:id="rId14"/>
    <p:sldId id="282" r:id="rId15"/>
  </p:sldIdLst>
  <p:sldSz cx="18288000" cy="10287000"/>
  <p:notesSz cx="6858000" cy="9144000"/>
  <p:embeddedFontLst>
    <p:embeddedFont>
      <p:font typeface="Arial Bold" panose="020B0704020202020204" pitchFamily="34" charset="0"/>
      <p:regular r:id="rId17"/>
      <p:bold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autoAdjust="0"/>
    <p:restoredTop sz="96238" autoAdjust="0"/>
  </p:normalViewPr>
  <p:slideViewPr>
    <p:cSldViewPr>
      <p:cViewPr varScale="1">
        <p:scale>
          <a:sx n="55" d="100"/>
          <a:sy n="55" d="100"/>
        </p:scale>
        <p:origin x="658"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Kính</a:t>
            </a:r>
            <a:r>
              <a:rPr lang="en-US" dirty="0"/>
              <a:t> </a:t>
            </a:r>
            <a:r>
              <a:rPr lang="en-US" dirty="0" err="1"/>
              <a:t>thưa</a:t>
            </a:r>
            <a:r>
              <a:rPr lang="en-US" dirty="0"/>
              <a:t> </a:t>
            </a:r>
            <a:r>
              <a:rPr lang="en-US" dirty="0" err="1"/>
              <a:t>thầy</a:t>
            </a:r>
            <a:r>
              <a:rPr lang="en-US" dirty="0"/>
              <a:t> </a:t>
            </a:r>
            <a:r>
              <a:rPr lang="en-US" dirty="0" err="1"/>
              <a:t>cô</a:t>
            </a:r>
            <a:r>
              <a:rPr lang="en-US" dirty="0"/>
              <a:t> </a:t>
            </a:r>
            <a:r>
              <a:rPr lang="en-US" dirty="0" err="1"/>
              <a:t>trong</a:t>
            </a:r>
            <a:r>
              <a:rPr lang="en-US" dirty="0"/>
              <a:t> </a:t>
            </a:r>
            <a:r>
              <a:rPr lang="en-US" dirty="0" err="1"/>
              <a:t>hội</a:t>
            </a:r>
            <a:r>
              <a:rPr lang="en-US" dirty="0"/>
              <a:t> </a:t>
            </a:r>
            <a:r>
              <a:rPr lang="en-US" dirty="0" err="1"/>
              <a:t>đồng</a:t>
            </a:r>
            <a:r>
              <a:rPr lang="en-US" dirty="0"/>
              <a:t>, </a:t>
            </a:r>
            <a:r>
              <a:rPr lang="en-US" dirty="0" err="1"/>
              <a:t>tên</a:t>
            </a:r>
            <a:r>
              <a:rPr lang="en-US" dirty="0"/>
              <a:t> </a:t>
            </a:r>
            <a:r>
              <a:rPr lang="en-US" dirty="0" err="1"/>
              <a:t>em</a:t>
            </a:r>
            <a:r>
              <a:rPr lang="en-US" dirty="0"/>
              <a:t> </a:t>
            </a:r>
            <a:r>
              <a:rPr lang="en-US" dirty="0" err="1"/>
              <a:t>là</a:t>
            </a:r>
            <a:r>
              <a:rPr lang="en-US" dirty="0"/>
              <a:t> </a:t>
            </a:r>
            <a:r>
              <a:rPr lang="en-US" dirty="0" err="1"/>
              <a:t>trương</a:t>
            </a:r>
            <a:r>
              <a:rPr lang="en-US" dirty="0"/>
              <a:t> </a:t>
            </a:r>
            <a:r>
              <a:rPr lang="en-US" dirty="0" err="1"/>
              <a:t>văn</a:t>
            </a:r>
            <a:r>
              <a:rPr lang="en-US" dirty="0"/>
              <a:t> </a:t>
            </a:r>
            <a:r>
              <a:rPr lang="en-US" dirty="0" err="1"/>
              <a:t>minh</a:t>
            </a:r>
            <a:r>
              <a:rPr lang="en-US" dirty="0"/>
              <a:t>. Em </a:t>
            </a:r>
            <a:r>
              <a:rPr lang="en-US" dirty="0" err="1"/>
              <a:t>xin</a:t>
            </a:r>
            <a:r>
              <a:rPr lang="en-US" dirty="0"/>
              <a:t> </a:t>
            </a:r>
            <a:r>
              <a:rPr lang="en-US" dirty="0" err="1"/>
              <a:t>đại</a:t>
            </a:r>
            <a:r>
              <a:rPr lang="en-US" dirty="0"/>
              <a:t> </a:t>
            </a:r>
            <a:r>
              <a:rPr lang="en-US" dirty="0" err="1"/>
              <a:t>diện</a:t>
            </a:r>
            <a:r>
              <a:rPr lang="en-US" dirty="0"/>
              <a:t> </a:t>
            </a:r>
            <a:r>
              <a:rPr lang="en-US" dirty="0" err="1"/>
              <a:t>cho</a:t>
            </a:r>
            <a:r>
              <a:rPr lang="en-US" dirty="0"/>
              <a:t> </a:t>
            </a:r>
            <a:r>
              <a:rPr lang="en-US" dirty="0" err="1"/>
              <a:t>nhóm</a:t>
            </a:r>
            <a:r>
              <a:rPr lang="en-US" dirty="0"/>
              <a:t> </a:t>
            </a:r>
            <a:r>
              <a:rPr lang="en-US" dirty="0" err="1"/>
              <a:t>trình</a:t>
            </a:r>
            <a:r>
              <a:rPr lang="en-US" dirty="0"/>
              <a:t> </a:t>
            </a:r>
            <a:r>
              <a:rPr lang="en-US" dirty="0" err="1"/>
              <a:t>bày</a:t>
            </a:r>
            <a:r>
              <a:rPr lang="en-US" dirty="0"/>
              <a:t> </a:t>
            </a:r>
            <a:r>
              <a:rPr lang="en-US" dirty="0" err="1"/>
              <a:t>báo</a:t>
            </a:r>
            <a:r>
              <a:rPr lang="en-US" dirty="0"/>
              <a:t> </a:t>
            </a:r>
            <a:r>
              <a:rPr lang="en-US" dirty="0" err="1"/>
              <a:t>cáo</a:t>
            </a:r>
            <a:r>
              <a:rPr lang="en-US" dirty="0"/>
              <a:t> </a:t>
            </a:r>
            <a:r>
              <a:rPr lang="en-US" dirty="0" err="1"/>
              <a:t>đề</a:t>
            </a:r>
            <a:r>
              <a:rPr lang="en-US" dirty="0"/>
              <a:t> </a:t>
            </a:r>
            <a:r>
              <a:rPr lang="en-US" dirty="0" err="1"/>
              <a:t>tài</a:t>
            </a:r>
            <a:r>
              <a:rPr lang="en-US" dirty="0"/>
              <a:t> </a:t>
            </a:r>
            <a:r>
              <a:rPr lang="en-US" dirty="0" err="1"/>
              <a:t>nghiên</a:t>
            </a:r>
            <a:r>
              <a:rPr lang="en-US" dirty="0"/>
              <a:t> </a:t>
            </a:r>
            <a:r>
              <a:rPr lang="en-US" dirty="0" err="1"/>
              <a:t>cứu</a:t>
            </a:r>
            <a:r>
              <a:rPr lang="en-US" dirty="0"/>
              <a:t> </a:t>
            </a:r>
            <a:r>
              <a:rPr lang="en-US" dirty="0" err="1"/>
              <a:t>xây</a:t>
            </a:r>
            <a:r>
              <a:rPr lang="en-US" dirty="0"/>
              <a:t> </a:t>
            </a:r>
            <a:r>
              <a:rPr lang="en-US" dirty="0" err="1"/>
              <a:t>dựng</a:t>
            </a:r>
            <a:r>
              <a:rPr lang="en-US" dirty="0"/>
              <a:t> </a:t>
            </a:r>
            <a:r>
              <a:rPr lang="en-US" dirty="0" err="1"/>
              <a:t>hệ</a:t>
            </a:r>
            <a:r>
              <a:rPr lang="en-US" dirty="0"/>
              <a:t> </a:t>
            </a:r>
            <a:r>
              <a:rPr lang="en-US" dirty="0" err="1"/>
              <a:t>thống</a:t>
            </a:r>
            <a:r>
              <a:rPr lang="en-US" dirty="0"/>
              <a:t> </a:t>
            </a:r>
            <a:r>
              <a:rPr lang="en-US" dirty="0" err="1"/>
              <a:t>phát</a:t>
            </a:r>
            <a:r>
              <a:rPr lang="en-US" dirty="0"/>
              <a:t> </a:t>
            </a:r>
            <a:r>
              <a:rPr lang="en-US" dirty="0" err="1"/>
              <a:t>hiện</a:t>
            </a:r>
            <a:r>
              <a:rPr lang="en-US" dirty="0"/>
              <a:t> </a:t>
            </a:r>
            <a:r>
              <a:rPr lang="en-US" dirty="0" err="1"/>
              <a:t>và</a:t>
            </a:r>
            <a:r>
              <a:rPr lang="en-US" dirty="0"/>
              <a:t> </a:t>
            </a:r>
            <a:r>
              <a:rPr lang="en-US" dirty="0" err="1"/>
              <a:t>cảnh</a:t>
            </a:r>
            <a:r>
              <a:rPr lang="en-US" dirty="0"/>
              <a:t> </a:t>
            </a:r>
            <a:r>
              <a:rPr lang="en-US" dirty="0" err="1"/>
              <a:t>báo</a:t>
            </a:r>
            <a:r>
              <a:rPr lang="en-US" dirty="0"/>
              <a:t> </a:t>
            </a:r>
            <a:r>
              <a:rPr lang="en-US" dirty="0" err="1"/>
              <a:t>những</a:t>
            </a:r>
            <a:r>
              <a:rPr lang="en-US" dirty="0"/>
              <a:t> </a:t>
            </a:r>
            <a:r>
              <a:rPr lang="en-US" dirty="0" err="1"/>
              <a:t>dấu</a:t>
            </a:r>
            <a:r>
              <a:rPr lang="en-US" dirty="0"/>
              <a:t> </a:t>
            </a:r>
            <a:r>
              <a:rPr lang="en-US" dirty="0" err="1"/>
              <a:t>hiệu</a:t>
            </a:r>
            <a:r>
              <a:rPr lang="en-US" dirty="0"/>
              <a:t> </a:t>
            </a:r>
            <a:r>
              <a:rPr lang="en-US" dirty="0" err="1"/>
              <a:t>mệt</a:t>
            </a:r>
            <a:r>
              <a:rPr lang="en-US" dirty="0"/>
              <a:t> </a:t>
            </a:r>
            <a:r>
              <a:rPr lang="en-US" dirty="0" err="1"/>
              <a:t>mỏi</a:t>
            </a:r>
            <a:r>
              <a:rPr lang="en-US" dirty="0"/>
              <a:t> </a:t>
            </a:r>
            <a:r>
              <a:rPr lang="en-US" dirty="0" err="1"/>
              <a:t>trong</a:t>
            </a:r>
            <a:r>
              <a:rPr lang="en-US" dirty="0"/>
              <a:t> </a:t>
            </a:r>
            <a:r>
              <a:rPr lang="en-US" dirty="0" err="1"/>
              <a:t>khi</a:t>
            </a:r>
            <a:r>
              <a:rPr lang="en-US" dirty="0"/>
              <a:t> </a:t>
            </a:r>
            <a:r>
              <a:rPr lang="en-US" dirty="0" err="1"/>
              <a:t>lái</a:t>
            </a:r>
            <a:r>
              <a:rPr lang="en-US" dirty="0"/>
              <a:t> </a:t>
            </a:r>
            <a:r>
              <a:rPr lang="en-US" dirty="0" err="1"/>
              <a:t>xe</a:t>
            </a:r>
            <a:r>
              <a:rPr lang="en-US" dirty="0"/>
              <a:t>.</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Bài</a:t>
            </a:r>
            <a:r>
              <a:rPr lang="en-US" dirty="0"/>
              <a:t> </a:t>
            </a:r>
            <a:r>
              <a:rPr lang="en-US" dirty="0" err="1"/>
              <a:t>báo</a:t>
            </a:r>
            <a:r>
              <a:rPr lang="en-US" dirty="0"/>
              <a:t> </a:t>
            </a:r>
            <a:r>
              <a:rPr lang="en-US" dirty="0" err="1"/>
              <a:t>cáo</a:t>
            </a:r>
            <a:r>
              <a:rPr lang="en-US" dirty="0"/>
              <a:t> </a:t>
            </a:r>
            <a:r>
              <a:rPr lang="en-US" dirty="0" err="1"/>
              <a:t>hôm</a:t>
            </a:r>
            <a:r>
              <a:rPr lang="en-US" dirty="0"/>
              <a:t> nay </a:t>
            </a:r>
            <a:r>
              <a:rPr lang="en-US" dirty="0" err="1"/>
              <a:t>của</a:t>
            </a:r>
            <a:r>
              <a:rPr lang="en-US" dirty="0"/>
              <a:t> </a:t>
            </a:r>
            <a:r>
              <a:rPr lang="en-US" dirty="0" err="1"/>
              <a:t>bọn</a:t>
            </a:r>
            <a:r>
              <a:rPr lang="en-US" dirty="0"/>
              <a:t> </a:t>
            </a:r>
            <a:r>
              <a:rPr lang="en-US" dirty="0" err="1"/>
              <a:t>em</a:t>
            </a:r>
            <a:r>
              <a:rPr lang="en-US" dirty="0"/>
              <a:t> </a:t>
            </a:r>
            <a:r>
              <a:rPr lang="en-US" dirty="0" err="1"/>
              <a:t>sẽ</a:t>
            </a:r>
            <a:r>
              <a:rPr lang="en-US" dirty="0"/>
              <a:t> </a:t>
            </a:r>
            <a:r>
              <a:rPr lang="en-US" dirty="0" err="1"/>
              <a:t>gồm</a:t>
            </a:r>
            <a:r>
              <a:rPr lang="en-US" dirty="0"/>
              <a:t> </a:t>
            </a:r>
            <a:r>
              <a:rPr lang="en-US" dirty="0" err="1"/>
              <a:t>có</a:t>
            </a:r>
            <a:r>
              <a:rPr lang="en-US" dirty="0"/>
              <a:t> </a:t>
            </a:r>
            <a:r>
              <a:rPr lang="en-US" dirty="0" err="1"/>
              <a:t>những</a:t>
            </a:r>
            <a:r>
              <a:rPr lang="en-US" dirty="0"/>
              <a:t> </a:t>
            </a:r>
            <a:r>
              <a:rPr lang="en-US" dirty="0" err="1"/>
              <a:t>phần</a:t>
            </a:r>
            <a:r>
              <a:rPr lang="en-US" dirty="0"/>
              <a:t> </a:t>
            </a:r>
            <a:r>
              <a:rPr lang="en-US" dirty="0" err="1"/>
              <a:t>sau</a:t>
            </a:r>
            <a:r>
              <a:rPr lang="en-US" dirty="0"/>
              <a:t>: </a:t>
            </a:r>
            <a:r>
              <a:rPr lang="en-US" dirty="0" err="1"/>
              <a:t>phần</a:t>
            </a:r>
            <a:r>
              <a:rPr lang="en-US" dirty="0"/>
              <a:t> </a:t>
            </a:r>
            <a:r>
              <a:rPr lang="en-US" dirty="0" err="1"/>
              <a:t>thứ</a:t>
            </a:r>
            <a:r>
              <a:rPr lang="en-US" dirty="0"/>
              <a:t> </a:t>
            </a:r>
            <a:r>
              <a:rPr lang="en-US" dirty="0" err="1"/>
              <a:t>nhất</a:t>
            </a:r>
            <a:r>
              <a:rPr lang="en-US" dirty="0"/>
              <a:t> </a:t>
            </a:r>
            <a:r>
              <a:rPr lang="en-US" dirty="0" err="1"/>
              <a:t>là</a:t>
            </a:r>
            <a:r>
              <a:rPr lang="en-US" dirty="0"/>
              <a:t> </a:t>
            </a:r>
            <a:r>
              <a:rPr lang="en-US" dirty="0" err="1"/>
              <a:t>giới</a:t>
            </a:r>
            <a:r>
              <a:rPr lang="en-US" dirty="0"/>
              <a:t> </a:t>
            </a:r>
            <a:r>
              <a:rPr lang="en-US" dirty="0" err="1"/>
              <a:t>thiệu</a:t>
            </a:r>
            <a:r>
              <a:rPr lang="en-US" dirty="0"/>
              <a:t> </a:t>
            </a:r>
            <a:r>
              <a:rPr lang="en-US" dirty="0" err="1"/>
              <a:t>về</a:t>
            </a:r>
            <a:r>
              <a:rPr lang="en-US" dirty="0"/>
              <a:t> </a:t>
            </a:r>
            <a:r>
              <a:rPr lang="en-US" dirty="0" err="1"/>
              <a:t>đề</a:t>
            </a:r>
            <a:r>
              <a:rPr lang="en-US" dirty="0"/>
              <a:t> </a:t>
            </a:r>
            <a:r>
              <a:rPr lang="en-US" dirty="0" err="1"/>
              <a:t>tài</a:t>
            </a:r>
            <a:r>
              <a:rPr lang="en-US" dirty="0"/>
              <a:t>, </a:t>
            </a:r>
            <a:r>
              <a:rPr lang="en-US" dirty="0" err="1"/>
              <a:t>thứ</a:t>
            </a:r>
            <a:r>
              <a:rPr lang="en-US" dirty="0"/>
              <a:t> 2 </a:t>
            </a:r>
            <a:r>
              <a:rPr lang="en-US" dirty="0" err="1"/>
              <a:t>là</a:t>
            </a:r>
            <a:r>
              <a:rPr lang="en-US" dirty="0"/>
              <a:t> </a:t>
            </a:r>
            <a:r>
              <a:rPr lang="en-US" dirty="0" err="1"/>
              <a:t>cơ</a:t>
            </a:r>
            <a:r>
              <a:rPr lang="en-US" dirty="0"/>
              <a:t> </a:t>
            </a:r>
            <a:r>
              <a:rPr lang="en-US" dirty="0" err="1"/>
              <a:t>sở</a:t>
            </a:r>
            <a:r>
              <a:rPr lang="en-US" dirty="0"/>
              <a:t> </a:t>
            </a:r>
            <a:r>
              <a:rPr lang="en-US" dirty="0" err="1"/>
              <a:t>lý</a:t>
            </a:r>
            <a:r>
              <a:rPr lang="en-US" dirty="0"/>
              <a:t> </a:t>
            </a:r>
            <a:r>
              <a:rPr lang="en-US" dirty="0" err="1"/>
              <a:t>thuyết</a:t>
            </a:r>
            <a:r>
              <a:rPr lang="en-US" dirty="0"/>
              <a:t>, </a:t>
            </a:r>
            <a:r>
              <a:rPr lang="en-US" dirty="0" err="1"/>
              <a:t>phần</a:t>
            </a:r>
            <a:r>
              <a:rPr lang="en-US" dirty="0"/>
              <a:t> 3 </a:t>
            </a:r>
            <a:r>
              <a:rPr lang="en-US" dirty="0" err="1"/>
              <a:t>là</a:t>
            </a:r>
            <a:r>
              <a:rPr lang="en-US" dirty="0"/>
              <a:t> </a:t>
            </a:r>
            <a:r>
              <a:rPr lang="en-US" dirty="0" err="1"/>
              <a:t>một</a:t>
            </a:r>
            <a:r>
              <a:rPr lang="en-US" dirty="0"/>
              <a:t> </a:t>
            </a:r>
            <a:r>
              <a:rPr lang="en-US" dirty="0" err="1"/>
              <a:t>số</a:t>
            </a:r>
            <a:r>
              <a:rPr lang="en-US" dirty="0"/>
              <a:t> </a:t>
            </a:r>
            <a:r>
              <a:rPr lang="en-US" dirty="0" err="1"/>
              <a:t>mô</a:t>
            </a:r>
            <a:r>
              <a:rPr lang="en-US" dirty="0"/>
              <a:t> </a:t>
            </a:r>
            <a:r>
              <a:rPr lang="en-US" dirty="0" err="1"/>
              <a:t>hình</a:t>
            </a:r>
            <a:r>
              <a:rPr lang="en-US" dirty="0"/>
              <a:t> </a:t>
            </a:r>
            <a:r>
              <a:rPr lang="en-US" dirty="0" err="1"/>
              <a:t>phát</a:t>
            </a:r>
            <a:r>
              <a:rPr lang="en-US" dirty="0"/>
              <a:t> </a:t>
            </a:r>
            <a:r>
              <a:rPr lang="en-US" dirty="0" err="1"/>
              <a:t>hiện</a:t>
            </a:r>
            <a:r>
              <a:rPr lang="en-US" dirty="0"/>
              <a:t> </a:t>
            </a:r>
            <a:r>
              <a:rPr lang="en-US" dirty="0" err="1"/>
              <a:t>dấu</a:t>
            </a:r>
            <a:r>
              <a:rPr lang="en-US" dirty="0"/>
              <a:t> </a:t>
            </a:r>
            <a:r>
              <a:rPr lang="en-US" dirty="0" err="1"/>
              <a:t>hiệu</a:t>
            </a:r>
            <a:r>
              <a:rPr lang="en-US" dirty="0"/>
              <a:t> </a:t>
            </a:r>
            <a:r>
              <a:rPr lang="en-US" dirty="0" err="1"/>
              <a:t>mệt</a:t>
            </a:r>
            <a:r>
              <a:rPr lang="en-US" dirty="0"/>
              <a:t> </a:t>
            </a:r>
            <a:r>
              <a:rPr lang="en-US" dirty="0" err="1"/>
              <a:t>mỏi</a:t>
            </a:r>
            <a:r>
              <a:rPr lang="en-US" dirty="0"/>
              <a:t>. </a:t>
            </a:r>
            <a:r>
              <a:rPr lang="en-US" dirty="0" err="1"/>
              <a:t>Phần</a:t>
            </a:r>
            <a:r>
              <a:rPr lang="en-US" dirty="0"/>
              <a:t> Iv </a:t>
            </a:r>
            <a:r>
              <a:rPr lang="en-US" dirty="0" err="1"/>
              <a:t>là</a:t>
            </a:r>
            <a:r>
              <a:rPr lang="en-US" dirty="0"/>
              <a:t> </a:t>
            </a:r>
            <a:r>
              <a:rPr lang="en-US" dirty="0" err="1"/>
              <a:t>kết</a:t>
            </a:r>
            <a:r>
              <a:rPr lang="en-US" dirty="0"/>
              <a:t> </a:t>
            </a:r>
            <a:r>
              <a:rPr lang="en-US" dirty="0" err="1"/>
              <a:t>quả</a:t>
            </a:r>
            <a:r>
              <a:rPr lang="en-US" dirty="0"/>
              <a:t> </a:t>
            </a:r>
            <a:r>
              <a:rPr lang="en-US" dirty="0" err="1"/>
              <a:t>thử</a:t>
            </a:r>
            <a:r>
              <a:rPr lang="en-US" dirty="0"/>
              <a:t> </a:t>
            </a:r>
            <a:r>
              <a:rPr lang="en-US" dirty="0" err="1"/>
              <a:t>nghiệm,và</a:t>
            </a:r>
            <a:r>
              <a:rPr lang="en-US" dirty="0"/>
              <a:t> </a:t>
            </a:r>
            <a:r>
              <a:rPr lang="en-US" dirty="0" err="1"/>
              <a:t>cuối</a:t>
            </a:r>
            <a:r>
              <a:rPr lang="en-US" dirty="0"/>
              <a:t> </a:t>
            </a:r>
            <a:r>
              <a:rPr lang="en-US" dirty="0" err="1"/>
              <a:t>cùng</a:t>
            </a:r>
            <a:r>
              <a:rPr lang="en-US" dirty="0"/>
              <a:t> </a:t>
            </a:r>
            <a:r>
              <a:rPr lang="en-US" dirty="0" err="1"/>
              <a:t>là</a:t>
            </a:r>
            <a:r>
              <a:rPr lang="en-US" dirty="0"/>
              <a:t> </a:t>
            </a:r>
            <a:r>
              <a:rPr lang="en-US" dirty="0" err="1"/>
              <a:t>kết</a:t>
            </a:r>
            <a:r>
              <a:rPr lang="en-US" dirty="0"/>
              <a:t> </a:t>
            </a:r>
            <a:r>
              <a:rPr lang="en-US" dirty="0" err="1"/>
              <a:t>luận</a:t>
            </a:r>
            <a:r>
              <a:rPr lang="en-US" dirty="0"/>
              <a:t> </a:t>
            </a:r>
            <a:r>
              <a:rPr lang="en-US" dirty="0" err="1"/>
              <a:t>và</a:t>
            </a:r>
            <a:r>
              <a:rPr lang="en-US" dirty="0"/>
              <a:t> </a:t>
            </a:r>
            <a:r>
              <a:rPr lang="en-US" dirty="0" err="1"/>
              <a:t>kiến</a:t>
            </a:r>
            <a:r>
              <a:rPr lang="en-US" dirty="0"/>
              <a:t> </a:t>
            </a:r>
            <a:r>
              <a:rPr lang="en-US" dirty="0" err="1"/>
              <a:t>nghị</a:t>
            </a: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Times New Roman" panose="02020603050405020304" pitchFamily="18" charset="0"/>
              </a:rPr>
              <a:t>Trong </a:t>
            </a:r>
            <a:r>
              <a:rPr lang="en-US" sz="1200" dirty="0" err="1">
                <a:solidFill>
                  <a:srgbClr val="000000"/>
                </a:solidFill>
                <a:latin typeface="Times New Roman" panose="02020603050405020304" pitchFamily="18" charset="0"/>
              </a:rPr>
              <a:t>những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năm</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vừa</a:t>
            </a:r>
            <a:r>
              <a:rPr lang="en-US" sz="1200" dirty="0">
                <a:solidFill>
                  <a:srgbClr val="000000"/>
                </a:solidFill>
                <a:latin typeface="Times New Roman" panose="02020603050405020304" pitchFamily="18" charset="0"/>
              </a:rPr>
              <a:t> qua, </a:t>
            </a:r>
            <a:r>
              <a:rPr lang="en-US" sz="1200" dirty="0" err="1">
                <a:solidFill>
                  <a:srgbClr val="000000"/>
                </a:solidFill>
                <a:latin typeface="Times New Roman" panose="02020603050405020304" pitchFamily="18" charset="0"/>
              </a:rPr>
              <a:t>chúng</a:t>
            </a:r>
            <a:r>
              <a:rPr lang="en-US" sz="1200" dirty="0">
                <a:solidFill>
                  <a:srgbClr val="000000"/>
                </a:solidFill>
                <a:latin typeface="Times New Roman" panose="02020603050405020304" pitchFamily="18" charset="0"/>
              </a:rPr>
              <a:t> ta </a:t>
            </a:r>
            <a:r>
              <a:rPr lang="en-US" sz="1200" dirty="0" err="1">
                <a:solidFill>
                  <a:srgbClr val="000000"/>
                </a:solidFill>
                <a:latin typeface="Times New Roman" panose="02020603050405020304" pitchFamily="18" charset="0"/>
              </a:rPr>
              <a:t>thấy</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được</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tình</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trạng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giao</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thông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ngày</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càng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nghiêm</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trọng</a:t>
            </a:r>
            <a:r>
              <a:rPr lang="en-US" sz="1200" dirty="0">
                <a:solidFill>
                  <a:srgbClr val="000000"/>
                </a:solidFill>
                <a:latin typeface="Times New Roman" panose="02020603050405020304" pitchFamily="18" charset="0"/>
              </a:rPr>
              <a:t>. </a:t>
            </a:r>
            <a:endParaRPr lang="en-US" dirty="0"/>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8DB07-C2AB-777C-07C3-9C5996D38A8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BFC62863-C821-77F3-AC04-90476C11882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1C3D9BDF-049C-D572-09EC-AC88DE1BF08E}"/>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C41B7E3-87E7-94CC-5490-94A149CD24BE}"/>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9028637-521A-B015-2689-D0BEFDF54FB7}"/>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Times New Roman" panose="02020603050405020304" pitchFamily="18" charset="0"/>
              </a:rPr>
              <a:t>Trong </a:t>
            </a:r>
            <a:r>
              <a:rPr lang="en-US" sz="1200" dirty="0" err="1">
                <a:solidFill>
                  <a:srgbClr val="000000"/>
                </a:solidFill>
                <a:latin typeface="Times New Roman" panose="02020603050405020304" pitchFamily="18" charset="0"/>
              </a:rPr>
              <a:t>những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năm</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vừa</a:t>
            </a:r>
            <a:r>
              <a:rPr lang="en-US" sz="1200" dirty="0">
                <a:solidFill>
                  <a:srgbClr val="000000"/>
                </a:solidFill>
                <a:latin typeface="Times New Roman" panose="02020603050405020304" pitchFamily="18" charset="0"/>
              </a:rPr>
              <a:t> qua, </a:t>
            </a:r>
            <a:r>
              <a:rPr lang="en-US" sz="1200" dirty="0" err="1">
                <a:solidFill>
                  <a:srgbClr val="000000"/>
                </a:solidFill>
                <a:latin typeface="Times New Roman" panose="02020603050405020304" pitchFamily="18" charset="0"/>
              </a:rPr>
              <a:t>chúng</a:t>
            </a:r>
            <a:r>
              <a:rPr lang="en-US" sz="1200" dirty="0">
                <a:solidFill>
                  <a:srgbClr val="000000"/>
                </a:solidFill>
                <a:latin typeface="Times New Roman" panose="02020603050405020304" pitchFamily="18" charset="0"/>
              </a:rPr>
              <a:t> ta </a:t>
            </a:r>
            <a:r>
              <a:rPr lang="en-US" sz="1200" dirty="0" err="1">
                <a:solidFill>
                  <a:srgbClr val="000000"/>
                </a:solidFill>
                <a:latin typeface="Times New Roman" panose="02020603050405020304" pitchFamily="18" charset="0"/>
              </a:rPr>
              <a:t>thấy</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được</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tình</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trạng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giao</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thông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ngày</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càng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nghiêm</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trọng</a:t>
            </a:r>
            <a:r>
              <a:rPr lang="en-US" sz="1200" dirty="0">
                <a:solidFill>
                  <a:srgbClr val="000000"/>
                </a:solidFill>
                <a:latin typeface="Times New Roman" panose="02020603050405020304" pitchFamily="18" charset="0"/>
              </a:rPr>
              <a:t>. </a:t>
            </a:r>
            <a:endParaRPr lang="en-US" dirty="0"/>
          </a:p>
          <a:p>
            <a:endParaRPr lang="en-US" dirty="0"/>
          </a:p>
        </p:txBody>
      </p:sp>
      <p:sp>
        <p:nvSpPr>
          <p:cNvPr id="6" name="Footer Placeholder 5">
            <a:extLst>
              <a:ext uri="{FF2B5EF4-FFF2-40B4-BE49-F238E27FC236}">
                <a16:creationId xmlns:a16="http://schemas.microsoft.com/office/drawing/2014/main" id="{EBB3D7D2-7807-80C8-3521-41915588D9A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BEAC5966-E8FB-677B-BBC2-C5CEBD5F6C1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0067003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793A4-6F34-409D-31E0-979D782C57A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A1E67A1-E535-1293-664D-6EE5273AB92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34147E5-3D49-B6BD-332B-37D488EE22B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1EDCF3EA-FA08-397E-BBDD-3F1299353A8C}"/>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CD1C3DD-6F8C-1FC1-A273-A46918F70F11}"/>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Times New Roman" panose="02020603050405020304" pitchFamily="18" charset="0"/>
              </a:rPr>
              <a:t>Trong </a:t>
            </a:r>
            <a:r>
              <a:rPr lang="en-US" sz="1200" dirty="0" err="1">
                <a:solidFill>
                  <a:srgbClr val="000000"/>
                </a:solidFill>
                <a:latin typeface="Times New Roman" panose="02020603050405020304" pitchFamily="18" charset="0"/>
              </a:rPr>
              <a:t>những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năm</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vừa</a:t>
            </a:r>
            <a:r>
              <a:rPr lang="en-US" sz="1200" dirty="0">
                <a:solidFill>
                  <a:srgbClr val="000000"/>
                </a:solidFill>
                <a:latin typeface="Times New Roman" panose="02020603050405020304" pitchFamily="18" charset="0"/>
              </a:rPr>
              <a:t> qua, </a:t>
            </a:r>
            <a:r>
              <a:rPr lang="en-US" sz="1200" dirty="0" err="1">
                <a:solidFill>
                  <a:srgbClr val="000000"/>
                </a:solidFill>
                <a:latin typeface="Times New Roman" panose="02020603050405020304" pitchFamily="18" charset="0"/>
              </a:rPr>
              <a:t>chúng</a:t>
            </a:r>
            <a:r>
              <a:rPr lang="en-US" sz="1200" dirty="0">
                <a:solidFill>
                  <a:srgbClr val="000000"/>
                </a:solidFill>
                <a:latin typeface="Times New Roman" panose="02020603050405020304" pitchFamily="18" charset="0"/>
              </a:rPr>
              <a:t> ta </a:t>
            </a:r>
            <a:r>
              <a:rPr lang="en-US" sz="1200" dirty="0" err="1">
                <a:solidFill>
                  <a:srgbClr val="000000"/>
                </a:solidFill>
                <a:latin typeface="Times New Roman" panose="02020603050405020304" pitchFamily="18" charset="0"/>
              </a:rPr>
              <a:t>thấy</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được</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tình</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trạng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giao</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thông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ngày</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càng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nghiêm</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trọng</a:t>
            </a:r>
            <a:r>
              <a:rPr lang="en-US" sz="1200" dirty="0">
                <a:solidFill>
                  <a:srgbClr val="000000"/>
                </a:solidFill>
                <a:latin typeface="Times New Roman" panose="02020603050405020304" pitchFamily="18" charset="0"/>
              </a:rPr>
              <a:t>. </a:t>
            </a:r>
            <a:endParaRPr lang="en-US" dirty="0"/>
          </a:p>
          <a:p>
            <a:endParaRPr lang="en-US" dirty="0"/>
          </a:p>
        </p:txBody>
      </p:sp>
      <p:sp>
        <p:nvSpPr>
          <p:cNvPr id="6" name="Footer Placeholder 5">
            <a:extLst>
              <a:ext uri="{FF2B5EF4-FFF2-40B4-BE49-F238E27FC236}">
                <a16:creationId xmlns:a16="http://schemas.microsoft.com/office/drawing/2014/main" id="{9C7409A0-CB30-1E86-2411-6093418432D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14E8928-5D1E-562C-8469-5EEE177A4EE7}"/>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1448490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23383-0C6F-54EF-8D35-187063FC890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02787B-76D4-7399-F42A-EB9CE46F85F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3D342FB7-0BA1-57F6-3482-20A97C3A50CB}"/>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C48772B-5EEA-F120-8A07-8DA6E626FC6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0F8EC49D-1577-4231-0826-C45C800A059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Times New Roman" panose="02020603050405020304" pitchFamily="18" charset="0"/>
              </a:rPr>
              <a:t>Trong </a:t>
            </a:r>
            <a:r>
              <a:rPr lang="en-US" sz="1200" dirty="0" err="1">
                <a:solidFill>
                  <a:srgbClr val="000000"/>
                </a:solidFill>
                <a:latin typeface="Times New Roman" panose="02020603050405020304" pitchFamily="18" charset="0"/>
              </a:rPr>
              <a:t>những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năm</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vừa</a:t>
            </a:r>
            <a:r>
              <a:rPr lang="en-US" sz="1200" dirty="0">
                <a:solidFill>
                  <a:srgbClr val="000000"/>
                </a:solidFill>
                <a:latin typeface="Times New Roman" panose="02020603050405020304" pitchFamily="18" charset="0"/>
              </a:rPr>
              <a:t> qua, </a:t>
            </a:r>
            <a:r>
              <a:rPr lang="en-US" sz="1200" dirty="0" err="1">
                <a:solidFill>
                  <a:srgbClr val="000000"/>
                </a:solidFill>
                <a:latin typeface="Times New Roman" panose="02020603050405020304" pitchFamily="18" charset="0"/>
              </a:rPr>
              <a:t>chúng</a:t>
            </a:r>
            <a:r>
              <a:rPr lang="en-US" sz="1200" dirty="0">
                <a:solidFill>
                  <a:srgbClr val="000000"/>
                </a:solidFill>
                <a:latin typeface="Times New Roman" panose="02020603050405020304" pitchFamily="18" charset="0"/>
              </a:rPr>
              <a:t> ta </a:t>
            </a:r>
            <a:r>
              <a:rPr lang="en-US" sz="1200" dirty="0" err="1">
                <a:solidFill>
                  <a:srgbClr val="000000"/>
                </a:solidFill>
                <a:latin typeface="Times New Roman" panose="02020603050405020304" pitchFamily="18" charset="0"/>
              </a:rPr>
              <a:t>thấy</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được</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tình</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trạng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giao</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thông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ngày</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càng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nghiêm</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trọng</a:t>
            </a:r>
            <a:r>
              <a:rPr lang="en-US" sz="1200" dirty="0">
                <a:solidFill>
                  <a:srgbClr val="000000"/>
                </a:solidFill>
                <a:latin typeface="Times New Roman" panose="02020603050405020304" pitchFamily="18" charset="0"/>
              </a:rPr>
              <a:t>. </a:t>
            </a:r>
            <a:endParaRPr lang="en-US" dirty="0"/>
          </a:p>
          <a:p>
            <a:endParaRPr lang="en-US" dirty="0"/>
          </a:p>
        </p:txBody>
      </p:sp>
      <p:sp>
        <p:nvSpPr>
          <p:cNvPr id="6" name="Footer Placeholder 5">
            <a:extLst>
              <a:ext uri="{FF2B5EF4-FFF2-40B4-BE49-F238E27FC236}">
                <a16:creationId xmlns:a16="http://schemas.microsoft.com/office/drawing/2014/main" id="{1F707D98-9688-34AA-FBAA-B4AC8F9E5B5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DED96E74-9509-3E82-D46F-9B0A7B0FCCD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2848419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BC592-FB0E-5B31-632C-C67FA8938AB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3709B78-10C9-2061-9A94-E81EDF45759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3549DA71-0B55-DBA5-7274-5E4BCD63536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229C0BE-007F-B5B8-7AF1-D24C878068E5}"/>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02283D41-79EF-14C2-88E4-3AC98FDC638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Times New Roman" panose="02020603050405020304" pitchFamily="18" charset="0"/>
              </a:rPr>
              <a:t>Trong </a:t>
            </a:r>
            <a:r>
              <a:rPr lang="en-US" sz="1200" dirty="0" err="1">
                <a:solidFill>
                  <a:srgbClr val="000000"/>
                </a:solidFill>
                <a:latin typeface="Times New Roman" panose="02020603050405020304" pitchFamily="18" charset="0"/>
              </a:rPr>
              <a:t>những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năm</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vừa</a:t>
            </a:r>
            <a:r>
              <a:rPr lang="en-US" sz="1200" dirty="0">
                <a:solidFill>
                  <a:srgbClr val="000000"/>
                </a:solidFill>
                <a:latin typeface="Times New Roman" panose="02020603050405020304" pitchFamily="18" charset="0"/>
              </a:rPr>
              <a:t> qua, </a:t>
            </a:r>
            <a:r>
              <a:rPr lang="en-US" sz="1200" dirty="0" err="1">
                <a:solidFill>
                  <a:srgbClr val="000000"/>
                </a:solidFill>
                <a:latin typeface="Times New Roman" panose="02020603050405020304" pitchFamily="18" charset="0"/>
              </a:rPr>
              <a:t>chúng</a:t>
            </a:r>
            <a:r>
              <a:rPr lang="en-US" sz="1200" dirty="0">
                <a:solidFill>
                  <a:srgbClr val="000000"/>
                </a:solidFill>
                <a:latin typeface="Times New Roman" panose="02020603050405020304" pitchFamily="18" charset="0"/>
              </a:rPr>
              <a:t> ta </a:t>
            </a:r>
            <a:r>
              <a:rPr lang="en-US" sz="1200" dirty="0" err="1">
                <a:solidFill>
                  <a:srgbClr val="000000"/>
                </a:solidFill>
                <a:latin typeface="Times New Roman" panose="02020603050405020304" pitchFamily="18" charset="0"/>
              </a:rPr>
              <a:t>thấy</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được</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tình</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trạng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giao</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thông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ngày</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càng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nghiêm</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trọng</a:t>
            </a:r>
            <a:r>
              <a:rPr lang="en-US" sz="1200" dirty="0">
                <a:solidFill>
                  <a:srgbClr val="000000"/>
                </a:solidFill>
                <a:latin typeface="Times New Roman" panose="02020603050405020304" pitchFamily="18" charset="0"/>
              </a:rPr>
              <a:t>. </a:t>
            </a:r>
            <a:endParaRPr lang="en-US" dirty="0"/>
          </a:p>
          <a:p>
            <a:endParaRPr lang="en-US" dirty="0"/>
          </a:p>
        </p:txBody>
      </p:sp>
      <p:sp>
        <p:nvSpPr>
          <p:cNvPr id="6" name="Footer Placeholder 5">
            <a:extLst>
              <a:ext uri="{FF2B5EF4-FFF2-40B4-BE49-F238E27FC236}">
                <a16:creationId xmlns:a16="http://schemas.microsoft.com/office/drawing/2014/main" id="{C0C52800-F0B3-E49A-D5E3-9163356518A8}"/>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0638DEA-EF01-C97E-0E6F-E0F19BA04F8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90921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32F0C-537D-398C-A69D-B943F5135DC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28C3AF7-B2BF-A851-9745-BDEAF1DF270E}"/>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6CFB69E0-CC70-E767-FED1-CC6FFEAF373E}"/>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56B6339-8A1F-19EE-FC99-34E9FB09D875}"/>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55E6C95F-AB8F-89F9-98DF-695C7931206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Times New Roman" panose="02020603050405020304" pitchFamily="18" charset="0"/>
              </a:rPr>
              <a:t>Trong </a:t>
            </a:r>
            <a:r>
              <a:rPr lang="en-US" sz="1200" dirty="0" err="1">
                <a:solidFill>
                  <a:srgbClr val="000000"/>
                </a:solidFill>
                <a:latin typeface="Times New Roman" panose="02020603050405020304" pitchFamily="18" charset="0"/>
              </a:rPr>
              <a:t>những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năm</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vừa</a:t>
            </a:r>
            <a:r>
              <a:rPr lang="en-US" sz="1200" dirty="0">
                <a:solidFill>
                  <a:srgbClr val="000000"/>
                </a:solidFill>
                <a:latin typeface="Times New Roman" panose="02020603050405020304" pitchFamily="18" charset="0"/>
              </a:rPr>
              <a:t> qua, </a:t>
            </a:r>
            <a:r>
              <a:rPr lang="en-US" sz="1200" dirty="0" err="1">
                <a:solidFill>
                  <a:srgbClr val="000000"/>
                </a:solidFill>
                <a:latin typeface="Times New Roman" panose="02020603050405020304" pitchFamily="18" charset="0"/>
              </a:rPr>
              <a:t>chúng</a:t>
            </a:r>
            <a:r>
              <a:rPr lang="en-US" sz="1200" dirty="0">
                <a:solidFill>
                  <a:srgbClr val="000000"/>
                </a:solidFill>
                <a:latin typeface="Times New Roman" panose="02020603050405020304" pitchFamily="18" charset="0"/>
              </a:rPr>
              <a:t> ta </a:t>
            </a:r>
            <a:r>
              <a:rPr lang="en-US" sz="1200" dirty="0" err="1">
                <a:solidFill>
                  <a:srgbClr val="000000"/>
                </a:solidFill>
                <a:latin typeface="Times New Roman" panose="02020603050405020304" pitchFamily="18" charset="0"/>
              </a:rPr>
              <a:t>thấy</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được</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tình</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trạng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giao</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thông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ngày</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càng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nghiêm</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trọng</a:t>
            </a:r>
            <a:r>
              <a:rPr lang="en-US" sz="1200" dirty="0">
                <a:solidFill>
                  <a:srgbClr val="000000"/>
                </a:solidFill>
                <a:latin typeface="Times New Roman" panose="02020603050405020304" pitchFamily="18" charset="0"/>
              </a:rPr>
              <a:t>. </a:t>
            </a:r>
            <a:endParaRPr lang="en-US" dirty="0"/>
          </a:p>
          <a:p>
            <a:endParaRPr lang="en-US" dirty="0"/>
          </a:p>
        </p:txBody>
      </p:sp>
      <p:sp>
        <p:nvSpPr>
          <p:cNvPr id="6" name="Footer Placeholder 5">
            <a:extLst>
              <a:ext uri="{FF2B5EF4-FFF2-40B4-BE49-F238E27FC236}">
                <a16:creationId xmlns:a16="http://schemas.microsoft.com/office/drawing/2014/main" id="{8E022BFC-D162-0BED-81F4-C90FEB86A6B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7EC9085-DDED-F8E6-8CE8-E7A7E41114D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4060113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A89C1-89A8-1B78-24DE-A37BFD13467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D1268E2-811B-10D0-00B9-78EC5075DAC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6E14E2E6-80DC-D5B1-6AF8-4869B78DFBF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044B47C4-0C16-6225-7C8A-7D92A513B8D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DAA18D2-382A-9D8C-1721-0EF5B03913E4}"/>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Times New Roman" panose="02020603050405020304" pitchFamily="18" charset="0"/>
              </a:rPr>
              <a:t>Trong </a:t>
            </a:r>
            <a:r>
              <a:rPr lang="en-US" sz="1200" dirty="0" err="1">
                <a:solidFill>
                  <a:srgbClr val="000000"/>
                </a:solidFill>
                <a:latin typeface="Times New Roman" panose="02020603050405020304" pitchFamily="18" charset="0"/>
              </a:rPr>
              <a:t>những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năm</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vừa</a:t>
            </a:r>
            <a:r>
              <a:rPr lang="en-US" sz="1200" dirty="0">
                <a:solidFill>
                  <a:srgbClr val="000000"/>
                </a:solidFill>
                <a:latin typeface="Times New Roman" panose="02020603050405020304" pitchFamily="18" charset="0"/>
              </a:rPr>
              <a:t> qua, </a:t>
            </a:r>
            <a:r>
              <a:rPr lang="en-US" sz="1200" dirty="0" err="1">
                <a:solidFill>
                  <a:srgbClr val="000000"/>
                </a:solidFill>
                <a:latin typeface="Times New Roman" panose="02020603050405020304" pitchFamily="18" charset="0"/>
              </a:rPr>
              <a:t>chúng</a:t>
            </a:r>
            <a:r>
              <a:rPr lang="en-US" sz="1200" dirty="0">
                <a:solidFill>
                  <a:srgbClr val="000000"/>
                </a:solidFill>
                <a:latin typeface="Times New Roman" panose="02020603050405020304" pitchFamily="18" charset="0"/>
              </a:rPr>
              <a:t> ta </a:t>
            </a:r>
            <a:r>
              <a:rPr lang="en-US" sz="1200" dirty="0" err="1">
                <a:solidFill>
                  <a:srgbClr val="000000"/>
                </a:solidFill>
                <a:latin typeface="Times New Roman" panose="02020603050405020304" pitchFamily="18" charset="0"/>
              </a:rPr>
              <a:t>thấy</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được</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tình</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trạng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giao</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thông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ngày</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càng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nghiêm</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trọng</a:t>
            </a:r>
            <a:r>
              <a:rPr lang="en-US" sz="1200" dirty="0">
                <a:solidFill>
                  <a:srgbClr val="000000"/>
                </a:solidFill>
                <a:latin typeface="Times New Roman" panose="02020603050405020304" pitchFamily="18" charset="0"/>
              </a:rPr>
              <a:t>. </a:t>
            </a:r>
            <a:endParaRPr lang="en-US" dirty="0"/>
          </a:p>
          <a:p>
            <a:endParaRPr lang="en-US" dirty="0"/>
          </a:p>
        </p:txBody>
      </p:sp>
      <p:sp>
        <p:nvSpPr>
          <p:cNvPr id="6" name="Footer Placeholder 5">
            <a:extLst>
              <a:ext uri="{FF2B5EF4-FFF2-40B4-BE49-F238E27FC236}">
                <a16:creationId xmlns:a16="http://schemas.microsoft.com/office/drawing/2014/main" id="{A2BF39A0-88C9-EBC0-F955-8AAEDA3D5C9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AE015CF-BD7D-3143-A1FC-2368395E4EC7}"/>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4940299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A5514-A070-FF7F-2D0A-ABE7D4241D5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70B7BD6-EE36-D0C8-BCF0-B8C090DFE5F3}"/>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60C3537-52F2-0AA9-5523-2A3F24EBFE7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D77E4DC-0FEA-20FF-24BF-92F48E7C444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AD0EA818-8FCE-6929-A667-67A85E12BFC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Times New Roman" panose="02020603050405020304" pitchFamily="18" charset="0"/>
              </a:rPr>
              <a:t>Trong </a:t>
            </a:r>
            <a:r>
              <a:rPr lang="en-US" sz="1200" dirty="0" err="1">
                <a:solidFill>
                  <a:srgbClr val="000000"/>
                </a:solidFill>
                <a:latin typeface="Times New Roman" panose="02020603050405020304" pitchFamily="18" charset="0"/>
              </a:rPr>
              <a:t>những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năm</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vừa</a:t>
            </a:r>
            <a:r>
              <a:rPr lang="en-US" sz="1200" dirty="0">
                <a:solidFill>
                  <a:srgbClr val="000000"/>
                </a:solidFill>
                <a:latin typeface="Times New Roman" panose="02020603050405020304" pitchFamily="18" charset="0"/>
              </a:rPr>
              <a:t> qua, </a:t>
            </a:r>
            <a:r>
              <a:rPr lang="en-US" sz="1200" dirty="0" err="1">
                <a:solidFill>
                  <a:srgbClr val="000000"/>
                </a:solidFill>
                <a:latin typeface="Times New Roman" panose="02020603050405020304" pitchFamily="18" charset="0"/>
              </a:rPr>
              <a:t>chúng</a:t>
            </a:r>
            <a:r>
              <a:rPr lang="en-US" sz="1200" dirty="0">
                <a:solidFill>
                  <a:srgbClr val="000000"/>
                </a:solidFill>
                <a:latin typeface="Times New Roman" panose="02020603050405020304" pitchFamily="18" charset="0"/>
              </a:rPr>
              <a:t> ta </a:t>
            </a:r>
            <a:r>
              <a:rPr lang="en-US" sz="1200" dirty="0" err="1">
                <a:solidFill>
                  <a:srgbClr val="000000"/>
                </a:solidFill>
                <a:latin typeface="Times New Roman" panose="02020603050405020304" pitchFamily="18" charset="0"/>
              </a:rPr>
              <a:t>thấy</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được</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tình</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trạng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giao</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thông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ngày</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càng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nghiêm</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trọng</a:t>
            </a:r>
            <a:r>
              <a:rPr lang="en-US" sz="1200" dirty="0">
                <a:solidFill>
                  <a:srgbClr val="000000"/>
                </a:solidFill>
                <a:latin typeface="Times New Roman" panose="02020603050405020304" pitchFamily="18" charset="0"/>
              </a:rPr>
              <a:t>. </a:t>
            </a:r>
            <a:endParaRPr lang="en-US" dirty="0"/>
          </a:p>
          <a:p>
            <a:endParaRPr lang="en-US" dirty="0"/>
          </a:p>
        </p:txBody>
      </p:sp>
      <p:sp>
        <p:nvSpPr>
          <p:cNvPr id="6" name="Footer Placeholder 5">
            <a:extLst>
              <a:ext uri="{FF2B5EF4-FFF2-40B4-BE49-F238E27FC236}">
                <a16:creationId xmlns:a16="http://schemas.microsoft.com/office/drawing/2014/main" id="{2C67CEF4-E579-717B-6C2A-7BB5C999466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3D4D0891-832C-2803-178B-69927B397A6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805266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B1A3B-56FA-6138-D16C-B1BD951AE49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3CE52D12-2B0C-90FB-ECA3-2682D966EA3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92161D7-743F-ABCF-73E0-2A83E658329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0C3C6A9B-8543-538A-7BB2-C6D7B5E281F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6C0E427-E633-2DDF-9479-525A960AE3E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Times New Roman" panose="02020603050405020304" pitchFamily="18" charset="0"/>
              </a:rPr>
              <a:t>Trong </a:t>
            </a:r>
            <a:r>
              <a:rPr lang="en-US" sz="1200" dirty="0" err="1">
                <a:solidFill>
                  <a:srgbClr val="000000"/>
                </a:solidFill>
                <a:latin typeface="Times New Roman" panose="02020603050405020304" pitchFamily="18" charset="0"/>
              </a:rPr>
              <a:t>những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năm</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vừa</a:t>
            </a:r>
            <a:r>
              <a:rPr lang="en-US" sz="1200" dirty="0">
                <a:solidFill>
                  <a:srgbClr val="000000"/>
                </a:solidFill>
                <a:latin typeface="Times New Roman" panose="02020603050405020304" pitchFamily="18" charset="0"/>
              </a:rPr>
              <a:t> qua, </a:t>
            </a:r>
            <a:r>
              <a:rPr lang="en-US" sz="1200" dirty="0" err="1">
                <a:solidFill>
                  <a:srgbClr val="000000"/>
                </a:solidFill>
                <a:latin typeface="Times New Roman" panose="02020603050405020304" pitchFamily="18" charset="0"/>
              </a:rPr>
              <a:t>chúng</a:t>
            </a:r>
            <a:r>
              <a:rPr lang="en-US" sz="1200" dirty="0">
                <a:solidFill>
                  <a:srgbClr val="000000"/>
                </a:solidFill>
                <a:latin typeface="Times New Roman" panose="02020603050405020304" pitchFamily="18" charset="0"/>
              </a:rPr>
              <a:t> ta </a:t>
            </a:r>
            <a:r>
              <a:rPr lang="en-US" sz="1200" dirty="0" err="1">
                <a:solidFill>
                  <a:srgbClr val="000000"/>
                </a:solidFill>
                <a:latin typeface="Times New Roman" panose="02020603050405020304" pitchFamily="18" charset="0"/>
              </a:rPr>
              <a:t>thấy</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được</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tình</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trạng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giao</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thông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ngày</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càng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nghiêm</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trọng</a:t>
            </a:r>
            <a:r>
              <a:rPr lang="en-US" sz="1200" dirty="0">
                <a:solidFill>
                  <a:srgbClr val="000000"/>
                </a:solidFill>
                <a:latin typeface="Times New Roman" panose="02020603050405020304" pitchFamily="18" charset="0"/>
              </a:rPr>
              <a:t>. </a:t>
            </a:r>
            <a:endParaRPr lang="en-US" dirty="0"/>
          </a:p>
          <a:p>
            <a:endParaRPr lang="en-US" dirty="0"/>
          </a:p>
        </p:txBody>
      </p:sp>
      <p:sp>
        <p:nvSpPr>
          <p:cNvPr id="6" name="Footer Placeholder 5">
            <a:extLst>
              <a:ext uri="{FF2B5EF4-FFF2-40B4-BE49-F238E27FC236}">
                <a16:creationId xmlns:a16="http://schemas.microsoft.com/office/drawing/2014/main" id="{1F17B224-DFE8-049B-C336-BEDA02007699}"/>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6EF13BC-8794-5AD4-F521-A7D5BB4B3C81}"/>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4304271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288C4-35DD-FA7D-4326-76F5D8ED57F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4D2E8BD5-7785-BA8E-3D4C-BA6DD9641AC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3FC0A740-C871-074E-5D5E-BA60AE29DC7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20E57F9F-482A-8EFB-06EE-EDFC7F8875E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92CE0EA-CE89-DBC4-E1EC-24EB83EA6AB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Times New Roman" panose="02020603050405020304" pitchFamily="18" charset="0"/>
              </a:rPr>
              <a:t>Trong </a:t>
            </a:r>
            <a:r>
              <a:rPr lang="en-US" sz="1200" dirty="0" err="1">
                <a:solidFill>
                  <a:srgbClr val="000000"/>
                </a:solidFill>
                <a:latin typeface="Times New Roman" panose="02020603050405020304" pitchFamily="18" charset="0"/>
              </a:rPr>
              <a:t>những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năm</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vừa</a:t>
            </a:r>
            <a:r>
              <a:rPr lang="en-US" sz="1200" dirty="0">
                <a:solidFill>
                  <a:srgbClr val="000000"/>
                </a:solidFill>
                <a:latin typeface="Times New Roman" panose="02020603050405020304" pitchFamily="18" charset="0"/>
              </a:rPr>
              <a:t> qua, </a:t>
            </a:r>
            <a:r>
              <a:rPr lang="en-US" sz="1200" dirty="0" err="1">
                <a:solidFill>
                  <a:srgbClr val="000000"/>
                </a:solidFill>
                <a:latin typeface="Times New Roman" panose="02020603050405020304" pitchFamily="18" charset="0"/>
              </a:rPr>
              <a:t>chúng</a:t>
            </a:r>
            <a:r>
              <a:rPr lang="en-US" sz="1200" dirty="0">
                <a:solidFill>
                  <a:srgbClr val="000000"/>
                </a:solidFill>
                <a:latin typeface="Times New Roman" panose="02020603050405020304" pitchFamily="18" charset="0"/>
              </a:rPr>
              <a:t> ta </a:t>
            </a:r>
            <a:r>
              <a:rPr lang="en-US" sz="1200" dirty="0" err="1">
                <a:solidFill>
                  <a:srgbClr val="000000"/>
                </a:solidFill>
                <a:latin typeface="Times New Roman" panose="02020603050405020304" pitchFamily="18" charset="0"/>
              </a:rPr>
              <a:t>thấy</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được</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tình</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trạng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giao</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thông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ngày</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càng</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nghiêm</a:t>
            </a:r>
            <a:r>
              <a:rPr lang="en-US" sz="1200" dirty="0">
                <a:solidFill>
                  <a:srgbClr val="000000"/>
                </a:solidFill>
                <a:latin typeface="Times New Roman" panose="02020603050405020304" pitchFamily="18" charset="0"/>
              </a:rPr>
              <a:t> </a:t>
            </a:r>
            <a:r>
              <a:rPr lang="en-US" sz="1200" dirty="0" err="1">
                <a:solidFill>
                  <a:srgbClr val="000000"/>
                </a:solidFill>
                <a:latin typeface="Times New Roman" panose="02020603050405020304" pitchFamily="18" charset="0"/>
              </a:rPr>
              <a:t>trọng</a:t>
            </a:r>
            <a:r>
              <a:rPr lang="en-US" sz="1200" dirty="0">
                <a:solidFill>
                  <a:srgbClr val="000000"/>
                </a:solidFill>
                <a:latin typeface="Times New Roman" panose="02020603050405020304" pitchFamily="18" charset="0"/>
              </a:rPr>
              <a:t>. </a:t>
            </a:r>
            <a:endParaRPr lang="en-US" dirty="0"/>
          </a:p>
          <a:p>
            <a:endParaRPr lang="en-US" dirty="0"/>
          </a:p>
        </p:txBody>
      </p:sp>
      <p:sp>
        <p:nvSpPr>
          <p:cNvPr id="6" name="Footer Placeholder 5">
            <a:extLst>
              <a:ext uri="{FF2B5EF4-FFF2-40B4-BE49-F238E27FC236}">
                <a16:creationId xmlns:a16="http://schemas.microsoft.com/office/drawing/2014/main" id="{0ED67A57-6ACA-67CD-3E4E-C6F36DB31BA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D9C22DD-3A3A-30B4-8190-5D5A33F3CFF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3206884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Times New Roman" panose="02020603050405020304" pitchFamily="18" charset="0"/>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3" name="TextBox 3"/>
          <p:cNvSpPr txBox="1"/>
          <p:nvPr/>
        </p:nvSpPr>
        <p:spPr>
          <a:xfrm>
            <a:off x="1981200" y="4881510"/>
            <a:ext cx="13929360" cy="753604"/>
          </a:xfrm>
          <a:prstGeom prst="rect">
            <a:avLst/>
          </a:prstGeom>
        </p:spPr>
        <p:txBody>
          <a:bodyPr wrap="square" lIns="0" tIns="0" rIns="0" bIns="0" rtlCol="0" anchor="t">
            <a:spAutoFit/>
          </a:bodyPr>
          <a:lstStyle/>
          <a:p>
            <a:pPr algn="ctr">
              <a:lnSpc>
                <a:spcPts val="6480"/>
              </a:lnSpc>
            </a:pPr>
            <a:r>
              <a:rPr lang="en-US" sz="4400" b="1" dirty="0">
                <a:effectLst/>
                <a:latin typeface="Arial" panose="020B0604020202020204" pitchFamily="34" charset="0"/>
                <a:ea typeface="Times New Roman" panose="02020603050405020304" pitchFamily="18" charset="0"/>
                <a:cs typeface="Arial" panose="020B0604020202020204" pitchFamily="34" charset="0"/>
              </a:rPr>
              <a:t>THIẾT KẾ VÀ XÂY DỰNG TRÒ CHƠI NẤU ĂN 3D</a:t>
            </a:r>
            <a:endParaRPr lang="en-US" sz="4400" b="1" dirty="0">
              <a:solidFill>
                <a:srgbClr val="0D0D0D"/>
              </a:solidFill>
              <a:latin typeface="Arial" panose="020B0604020202020204" pitchFamily="34" charset="0"/>
              <a:cs typeface="Arial" panose="020B0604020202020204" pitchFamily="34" charset="0"/>
            </a:endParaRPr>
          </a:p>
        </p:txBody>
      </p:sp>
      <p:sp>
        <p:nvSpPr>
          <p:cNvPr id="4" name="TextBox 4"/>
          <p:cNvSpPr txBox="1"/>
          <p:nvPr/>
        </p:nvSpPr>
        <p:spPr>
          <a:xfrm>
            <a:off x="2377440" y="495300"/>
            <a:ext cx="13533120" cy="641201"/>
          </a:xfrm>
          <a:prstGeom prst="rect">
            <a:avLst/>
          </a:prstGeom>
        </p:spPr>
        <p:txBody>
          <a:bodyPr lIns="0" tIns="0" rIns="0" bIns="0" rtlCol="0" anchor="t">
            <a:spAutoFit/>
          </a:bodyPr>
          <a:lstStyle/>
          <a:p>
            <a:pPr algn="ctr">
              <a:lnSpc>
                <a:spcPts val="5040"/>
              </a:lnSpc>
            </a:pPr>
            <a:r>
              <a:rPr lang="en-US" sz="4200" b="1" dirty="0">
                <a:solidFill>
                  <a:srgbClr val="FFFFFF"/>
                </a:solidFill>
                <a:latin typeface="Arial" panose="020B0604020202020204" pitchFamily="34" charset="0"/>
                <a:cs typeface="Arial" panose="020B0604020202020204" pitchFamily="34" charset="0"/>
              </a:rPr>
              <a:t>ĐỒ ÁN TỐT NGHIỆP SINH VIÊN 2026</a:t>
            </a:r>
          </a:p>
        </p:txBody>
      </p:sp>
      <p:sp>
        <p:nvSpPr>
          <p:cNvPr id="5" name="TextBox 5"/>
          <p:cNvSpPr txBox="1"/>
          <p:nvPr/>
        </p:nvSpPr>
        <p:spPr>
          <a:xfrm>
            <a:off x="13197840" y="9546433"/>
            <a:ext cx="4084320" cy="410369"/>
          </a:xfrm>
          <a:prstGeom prst="rect">
            <a:avLst/>
          </a:prstGeom>
        </p:spPr>
        <p:txBody>
          <a:bodyPr lIns="0" tIns="0" rIns="0" bIns="0" rtlCol="0" anchor="t">
            <a:spAutoFit/>
          </a:bodyPr>
          <a:lstStyle/>
          <a:p>
            <a:pPr algn="r">
              <a:lnSpc>
                <a:spcPts val="3240"/>
              </a:lnSpc>
            </a:pPr>
            <a:r>
              <a:rPr lang="en-US" sz="2700">
                <a:solidFill>
                  <a:srgbClr val="0000FF"/>
                </a:solidFill>
                <a:latin typeface="Times New Roman" panose="02020603050405020304" pitchFamily="18" charset="0"/>
              </a:rPr>
              <a:t>1</a:t>
            </a:r>
          </a:p>
        </p:txBody>
      </p:sp>
      <p:sp>
        <p:nvSpPr>
          <p:cNvPr id="6" name="TextBox 6"/>
          <p:cNvSpPr txBox="1"/>
          <p:nvPr/>
        </p:nvSpPr>
        <p:spPr>
          <a:xfrm>
            <a:off x="2377440" y="3509410"/>
            <a:ext cx="13533120" cy="842538"/>
          </a:xfrm>
          <a:prstGeom prst="rect">
            <a:avLst/>
          </a:prstGeom>
        </p:spPr>
        <p:txBody>
          <a:bodyPr lIns="0" tIns="0" rIns="0" bIns="0" rtlCol="0" anchor="t">
            <a:spAutoFit/>
          </a:bodyPr>
          <a:lstStyle/>
          <a:p>
            <a:pPr algn="ctr">
              <a:lnSpc>
                <a:spcPts val="6959"/>
              </a:lnSpc>
            </a:pPr>
            <a:r>
              <a:rPr lang="en-US" sz="5799" b="1" dirty="0">
                <a:solidFill>
                  <a:srgbClr val="0D0D0D"/>
                </a:solidFill>
                <a:latin typeface="Arial" panose="020B0604020202020204" pitchFamily="34" charset="0"/>
                <a:cs typeface="Arial" panose="020B0604020202020204" pitchFamily="34" charset="0"/>
              </a:rPr>
              <a:t>ĐỀ TÀI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3" name="TextBox 3"/>
          <p:cNvSpPr txBox="1"/>
          <p:nvPr/>
        </p:nvSpPr>
        <p:spPr>
          <a:xfrm>
            <a:off x="1278084" y="2115510"/>
            <a:ext cx="16463349" cy="3093154"/>
          </a:xfrm>
          <a:prstGeom prst="rect">
            <a:avLst/>
          </a:prstGeom>
        </p:spPr>
        <p:txBody>
          <a:bodyPr lIns="0" tIns="0" rIns="0" bIns="0" rtlCol="0" anchor="t">
            <a:spAutoFit/>
          </a:bodyPr>
          <a:lstStyle/>
          <a:p>
            <a:pPr algn="ctr">
              <a:lnSpc>
                <a:spcPts val="5400"/>
              </a:lnSpc>
            </a:pPr>
            <a:r>
              <a:rPr lang="en-US" sz="3800" b="1" dirty="0">
                <a:solidFill>
                  <a:srgbClr val="0D0D0D"/>
                </a:solidFill>
                <a:latin typeface="Arial" panose="020B0604020202020204" pitchFamily="34" charset="0"/>
                <a:cs typeface="Arial" panose="020B0604020202020204" pitchFamily="34" charset="0"/>
              </a:rPr>
              <a:t>ĐỀ TÀI NGHIÊN CỨU</a:t>
            </a:r>
          </a:p>
          <a:p>
            <a:pPr algn="ctr"/>
            <a:r>
              <a:rPr lang="en-US" sz="3600" b="1" dirty="0">
                <a:effectLst/>
                <a:latin typeface="Arial" panose="020B0604020202020204" pitchFamily="34" charset="0"/>
                <a:ea typeface="Times New Roman" panose="02020603050405020304" pitchFamily="18" charset="0"/>
                <a:cs typeface="Arial" panose="020B0604020202020204" pitchFamily="34" charset="0"/>
              </a:rPr>
              <a:t>THIẾT KẾ VÀ XÂY DỰNG TRÒ CHƠI NẤU ĂN 3D</a:t>
            </a:r>
          </a:p>
          <a:p>
            <a:pPr algn="ctr"/>
            <a:endParaRPr lang="en-US" sz="3000" b="1" dirty="0">
              <a:solidFill>
                <a:srgbClr val="0D0D0D"/>
              </a:solidFill>
              <a:latin typeface="Arial" panose="020B0604020202020204" pitchFamily="34" charset="0"/>
              <a:cs typeface="Arial" panose="020B0604020202020204" pitchFamily="34" charset="0"/>
            </a:endParaRPr>
          </a:p>
          <a:p>
            <a:pPr algn="l">
              <a:lnSpc>
                <a:spcPts val="2700"/>
              </a:lnSpc>
            </a:pPr>
            <a:r>
              <a:rPr lang="en-US" sz="3000" b="1" dirty="0" err="1">
                <a:solidFill>
                  <a:srgbClr val="0D0D0D"/>
                </a:solidFill>
                <a:latin typeface="Arial" panose="020B0604020202020204" pitchFamily="34" charset="0"/>
                <a:cs typeface="Arial" panose="020B0604020202020204" pitchFamily="34" charset="0"/>
              </a:rPr>
              <a:t>Giảng</a:t>
            </a:r>
            <a:r>
              <a:rPr lang="en-US" sz="3000" b="1" dirty="0">
                <a:solidFill>
                  <a:srgbClr val="0D0D0D"/>
                </a:solidFill>
                <a:latin typeface="Arial" panose="020B0604020202020204" pitchFamily="34" charset="0"/>
                <a:cs typeface="Arial" panose="020B0604020202020204" pitchFamily="34" charset="0"/>
              </a:rPr>
              <a:t> </a:t>
            </a:r>
            <a:r>
              <a:rPr lang="en-US" sz="3000" b="1" dirty="0" err="1">
                <a:solidFill>
                  <a:srgbClr val="0D0D0D"/>
                </a:solidFill>
                <a:latin typeface="Arial" panose="020B0604020202020204" pitchFamily="34" charset="0"/>
                <a:cs typeface="Arial" panose="020B0604020202020204" pitchFamily="34" charset="0"/>
              </a:rPr>
              <a:t>viên</a:t>
            </a:r>
            <a:r>
              <a:rPr lang="en-US" sz="3000" b="1" dirty="0">
                <a:solidFill>
                  <a:srgbClr val="0D0D0D"/>
                </a:solidFill>
                <a:latin typeface="Arial" panose="020B0604020202020204" pitchFamily="34" charset="0"/>
                <a:cs typeface="Arial" panose="020B0604020202020204" pitchFamily="34" charset="0"/>
              </a:rPr>
              <a:t> </a:t>
            </a:r>
            <a:r>
              <a:rPr lang="en-US" sz="3000" b="1" dirty="0" err="1">
                <a:solidFill>
                  <a:srgbClr val="0D0D0D"/>
                </a:solidFill>
                <a:latin typeface="Arial" panose="020B0604020202020204" pitchFamily="34" charset="0"/>
                <a:cs typeface="Arial" panose="020B0604020202020204" pitchFamily="34" charset="0"/>
              </a:rPr>
              <a:t>hướng</a:t>
            </a:r>
            <a:r>
              <a:rPr lang="en-US" sz="3000" b="1" dirty="0">
                <a:solidFill>
                  <a:srgbClr val="0D0D0D"/>
                </a:solidFill>
                <a:latin typeface="Arial" panose="020B0604020202020204" pitchFamily="34" charset="0"/>
                <a:cs typeface="Arial" panose="020B0604020202020204" pitchFamily="34" charset="0"/>
              </a:rPr>
              <a:t> </a:t>
            </a:r>
            <a:r>
              <a:rPr lang="en-US" sz="3000" b="1" dirty="0" err="1">
                <a:solidFill>
                  <a:srgbClr val="0D0D0D"/>
                </a:solidFill>
                <a:latin typeface="Arial" panose="020B0604020202020204" pitchFamily="34" charset="0"/>
                <a:cs typeface="Arial" panose="020B0604020202020204" pitchFamily="34" charset="0"/>
              </a:rPr>
              <a:t>dẫn</a:t>
            </a:r>
            <a:r>
              <a:rPr lang="en-US" sz="3000" b="1" dirty="0">
                <a:solidFill>
                  <a:srgbClr val="0D0D0D"/>
                </a:solidFill>
                <a:latin typeface="Arial" panose="020B0604020202020204" pitchFamily="34" charset="0"/>
                <a:cs typeface="Arial" panose="020B0604020202020204" pitchFamily="34" charset="0"/>
              </a:rPr>
              <a:t>: </a:t>
            </a:r>
            <a:r>
              <a:rPr lang="en-US" sz="3000" b="1" dirty="0" err="1">
                <a:solidFill>
                  <a:srgbClr val="0D0D0D"/>
                </a:solidFill>
                <a:latin typeface="Arial" panose="020B0604020202020204" pitchFamily="34" charset="0"/>
                <a:cs typeface="Arial" panose="020B0604020202020204" pitchFamily="34" charset="0"/>
              </a:rPr>
              <a:t>ThS</a:t>
            </a:r>
            <a:r>
              <a:rPr lang="en-US" sz="3000" b="1" dirty="0">
                <a:solidFill>
                  <a:srgbClr val="0D0D0D"/>
                </a:solidFill>
                <a:latin typeface="Arial" panose="020B0604020202020204" pitchFamily="34" charset="0"/>
                <a:cs typeface="Arial" panose="020B0604020202020204" pitchFamily="34" charset="0"/>
              </a:rPr>
              <a:t> Nguyễn Việt </a:t>
            </a:r>
            <a:r>
              <a:rPr lang="en-US" sz="3000" b="1" dirty="0" err="1">
                <a:solidFill>
                  <a:srgbClr val="0D0D0D"/>
                </a:solidFill>
                <a:latin typeface="Arial" panose="020B0604020202020204" pitchFamily="34" charset="0"/>
                <a:cs typeface="Arial" panose="020B0604020202020204" pitchFamily="34" charset="0"/>
              </a:rPr>
              <a:t>Hưng</a:t>
            </a:r>
            <a:endParaRPr lang="en-US" sz="3000" b="1" dirty="0">
              <a:solidFill>
                <a:srgbClr val="0D0D0D"/>
              </a:solidFill>
              <a:latin typeface="Arial" panose="020B0604020202020204" pitchFamily="34" charset="0"/>
              <a:cs typeface="Arial" panose="020B0604020202020204" pitchFamily="34" charset="0"/>
            </a:endParaRPr>
          </a:p>
          <a:p>
            <a:pPr algn="l">
              <a:lnSpc>
                <a:spcPts val="2700"/>
              </a:lnSpc>
            </a:pPr>
            <a:r>
              <a:rPr lang="en-US" sz="3000" b="1" dirty="0">
                <a:solidFill>
                  <a:srgbClr val="0D0D0D"/>
                </a:solidFill>
                <a:latin typeface="Arial" panose="020B0604020202020204" pitchFamily="34" charset="0"/>
                <a:cs typeface="Arial" panose="020B0604020202020204" pitchFamily="34" charset="0"/>
              </a:rPr>
              <a:t>Danh </a:t>
            </a:r>
            <a:r>
              <a:rPr lang="en-US" sz="3000" b="1" dirty="0" err="1">
                <a:solidFill>
                  <a:srgbClr val="0D0D0D"/>
                </a:solidFill>
                <a:latin typeface="Arial" panose="020B0604020202020204" pitchFamily="34" charset="0"/>
                <a:cs typeface="Arial" panose="020B0604020202020204" pitchFamily="34" charset="0"/>
              </a:rPr>
              <a:t>sách</a:t>
            </a:r>
            <a:r>
              <a:rPr lang="en-US" sz="3000" b="1" dirty="0">
                <a:solidFill>
                  <a:srgbClr val="0D0D0D"/>
                </a:solidFill>
                <a:latin typeface="Arial" panose="020B0604020202020204" pitchFamily="34" charset="0"/>
                <a:cs typeface="Arial" panose="020B0604020202020204" pitchFamily="34" charset="0"/>
              </a:rPr>
              <a:t> </a:t>
            </a:r>
            <a:r>
              <a:rPr lang="en-US" sz="3000" b="1" dirty="0" err="1">
                <a:solidFill>
                  <a:srgbClr val="0D0D0D"/>
                </a:solidFill>
                <a:latin typeface="Arial" panose="020B0604020202020204" pitchFamily="34" charset="0"/>
                <a:cs typeface="Arial" panose="020B0604020202020204" pitchFamily="34" charset="0"/>
              </a:rPr>
              <a:t>sinh</a:t>
            </a:r>
            <a:r>
              <a:rPr lang="en-US" sz="3000" b="1" dirty="0">
                <a:solidFill>
                  <a:srgbClr val="0D0D0D"/>
                </a:solidFill>
                <a:latin typeface="Arial" panose="020B0604020202020204" pitchFamily="34" charset="0"/>
                <a:cs typeface="Arial" panose="020B0604020202020204" pitchFamily="34" charset="0"/>
              </a:rPr>
              <a:t> </a:t>
            </a:r>
            <a:r>
              <a:rPr lang="en-US" sz="3000" b="1" dirty="0" err="1">
                <a:solidFill>
                  <a:srgbClr val="0D0D0D"/>
                </a:solidFill>
                <a:latin typeface="Arial" panose="020B0604020202020204" pitchFamily="34" charset="0"/>
                <a:cs typeface="Arial" panose="020B0604020202020204" pitchFamily="34" charset="0"/>
              </a:rPr>
              <a:t>viên</a:t>
            </a:r>
            <a:r>
              <a:rPr lang="en-US" sz="3000" b="1" dirty="0">
                <a:solidFill>
                  <a:srgbClr val="0D0D0D"/>
                </a:solidFill>
                <a:latin typeface="Arial" panose="020B0604020202020204" pitchFamily="34" charset="0"/>
                <a:cs typeface="Arial" panose="020B0604020202020204" pitchFamily="34" charset="0"/>
              </a:rPr>
              <a:t> </a:t>
            </a:r>
            <a:r>
              <a:rPr lang="en-US" sz="3000" b="1" dirty="0" err="1">
                <a:solidFill>
                  <a:srgbClr val="0D0D0D"/>
                </a:solidFill>
                <a:latin typeface="Arial" panose="020B0604020202020204" pitchFamily="34" charset="0"/>
                <a:cs typeface="Arial" panose="020B0604020202020204" pitchFamily="34" charset="0"/>
              </a:rPr>
              <a:t>tham</a:t>
            </a:r>
            <a:r>
              <a:rPr lang="en-US" sz="3000" b="1" dirty="0">
                <a:solidFill>
                  <a:srgbClr val="0D0D0D"/>
                </a:solidFill>
                <a:latin typeface="Arial" panose="020B0604020202020204" pitchFamily="34" charset="0"/>
                <a:cs typeface="Arial" panose="020B0604020202020204" pitchFamily="34" charset="0"/>
              </a:rPr>
              <a:t> </a:t>
            </a:r>
            <a:r>
              <a:rPr lang="en-US" sz="3000" b="1" dirty="0" err="1">
                <a:solidFill>
                  <a:srgbClr val="0D0D0D"/>
                </a:solidFill>
                <a:latin typeface="Arial" panose="020B0604020202020204" pitchFamily="34" charset="0"/>
                <a:cs typeface="Arial" panose="020B0604020202020204" pitchFamily="34" charset="0"/>
              </a:rPr>
              <a:t>gia</a:t>
            </a:r>
            <a:r>
              <a:rPr lang="en-US" sz="3000" b="1" dirty="0">
                <a:solidFill>
                  <a:srgbClr val="0D0D0D"/>
                </a:solidFill>
                <a:latin typeface="Arial" panose="020B0604020202020204" pitchFamily="34" charset="0"/>
                <a:cs typeface="Arial" panose="020B0604020202020204" pitchFamily="34" charset="0"/>
              </a:rPr>
              <a:t> </a:t>
            </a:r>
          </a:p>
          <a:p>
            <a:pPr algn="l">
              <a:lnSpc>
                <a:spcPts val="2700"/>
              </a:lnSpc>
            </a:pPr>
            <a:endParaRPr lang="en-US" sz="2250" b="1" dirty="0">
              <a:solidFill>
                <a:srgbClr val="0D0D0D"/>
              </a:solidFill>
              <a:latin typeface="Arial" panose="020B0604020202020204" pitchFamily="34" charset="0"/>
              <a:cs typeface="Arial" panose="020B0604020202020204" pitchFamily="34" charset="0"/>
            </a:endParaRPr>
          </a:p>
          <a:p>
            <a:pPr algn="l">
              <a:lnSpc>
                <a:spcPts val="2700"/>
              </a:lnSpc>
            </a:pPr>
            <a:endParaRPr lang="en-US" sz="2250" b="1" dirty="0">
              <a:solidFill>
                <a:srgbClr val="0D0D0D"/>
              </a:solidFill>
              <a:latin typeface="Arial" panose="020B0604020202020204" pitchFamily="34" charset="0"/>
              <a:cs typeface="Arial" panose="020B0604020202020204" pitchFamily="34" charset="0"/>
            </a:endParaRPr>
          </a:p>
        </p:txBody>
      </p:sp>
      <p:sp>
        <p:nvSpPr>
          <p:cNvPr id="4" name="TextBox 4"/>
          <p:cNvSpPr txBox="1"/>
          <p:nvPr/>
        </p:nvSpPr>
        <p:spPr>
          <a:xfrm>
            <a:off x="2377440" y="503098"/>
            <a:ext cx="13533120" cy="641201"/>
          </a:xfrm>
          <a:prstGeom prst="rect">
            <a:avLst/>
          </a:prstGeom>
        </p:spPr>
        <p:txBody>
          <a:bodyPr lIns="0" tIns="0" rIns="0" bIns="0" rtlCol="0" anchor="t">
            <a:spAutoFit/>
          </a:bodyPr>
          <a:lstStyle/>
          <a:p>
            <a:pPr algn="ctr">
              <a:lnSpc>
                <a:spcPts val="5040"/>
              </a:lnSpc>
            </a:pPr>
            <a:r>
              <a:rPr lang="en-US" sz="4200" b="1" dirty="0">
                <a:solidFill>
                  <a:srgbClr val="FFFFFF"/>
                </a:solidFill>
                <a:latin typeface="Arial" panose="020B0604020202020204" pitchFamily="34" charset="0"/>
                <a:cs typeface="Arial" panose="020B0604020202020204" pitchFamily="34" charset="0"/>
              </a:rPr>
              <a:t>ĐỒ ÁN TỐT NGHIỆP SINH VIÊN 2026</a:t>
            </a:r>
          </a:p>
        </p:txBody>
      </p:sp>
      <p:sp>
        <p:nvSpPr>
          <p:cNvPr id="5" name="TextBox 5"/>
          <p:cNvSpPr txBox="1"/>
          <p:nvPr/>
        </p:nvSpPr>
        <p:spPr>
          <a:xfrm>
            <a:off x="13197840" y="9523096"/>
            <a:ext cx="4084320" cy="410369"/>
          </a:xfrm>
          <a:prstGeom prst="rect">
            <a:avLst/>
          </a:prstGeom>
        </p:spPr>
        <p:txBody>
          <a:bodyPr lIns="0" tIns="0" rIns="0" bIns="0" rtlCol="0" anchor="t">
            <a:spAutoFit/>
          </a:bodyPr>
          <a:lstStyle/>
          <a:p>
            <a:pPr algn="r">
              <a:lnSpc>
                <a:spcPts val="3240"/>
              </a:lnSpc>
            </a:pPr>
            <a:r>
              <a:rPr lang="en-US" sz="2700">
                <a:solidFill>
                  <a:srgbClr val="0000FF"/>
                </a:solidFill>
                <a:latin typeface="Times New Roman" panose="02020603050405020304" pitchFamily="18" charset="0"/>
              </a:rPr>
              <a:t>2</a:t>
            </a:r>
          </a:p>
        </p:txBody>
      </p:sp>
      <p:graphicFrame>
        <p:nvGraphicFramePr>
          <p:cNvPr id="6" name="Table 6"/>
          <p:cNvGraphicFramePr>
            <a:graphicFrameLocks noGrp="1"/>
          </p:cNvGraphicFramePr>
          <p:nvPr>
            <p:extLst>
              <p:ext uri="{D42A27DB-BD31-4B8C-83A1-F6EECF244321}">
                <p14:modId xmlns:p14="http://schemas.microsoft.com/office/powerpoint/2010/main" val="2389919718"/>
              </p:ext>
            </p:extLst>
          </p:nvPr>
        </p:nvGraphicFramePr>
        <p:xfrm>
          <a:off x="1066799" y="5232224"/>
          <a:ext cx="16230601" cy="1624833"/>
        </p:xfrm>
        <a:graphic>
          <a:graphicData uri="http://schemas.openxmlformats.org/drawingml/2006/table">
            <a:tbl>
              <a:tblPr/>
              <a:tblGrid>
                <a:gridCol w="1371601">
                  <a:extLst>
                    <a:ext uri="{9D8B030D-6E8A-4147-A177-3AD203B41FA5}">
                      <a16:colId xmlns:a16="http://schemas.microsoft.com/office/drawing/2014/main" val="20000"/>
                    </a:ext>
                  </a:extLst>
                </a:gridCol>
                <a:gridCol w="3733800">
                  <a:extLst>
                    <a:ext uri="{9D8B030D-6E8A-4147-A177-3AD203B41FA5}">
                      <a16:colId xmlns:a16="http://schemas.microsoft.com/office/drawing/2014/main" val="20001"/>
                    </a:ext>
                  </a:extLst>
                </a:gridCol>
                <a:gridCol w="3352800">
                  <a:extLst>
                    <a:ext uri="{9D8B030D-6E8A-4147-A177-3AD203B41FA5}">
                      <a16:colId xmlns:a16="http://schemas.microsoft.com/office/drawing/2014/main" val="20002"/>
                    </a:ext>
                  </a:extLst>
                </a:gridCol>
                <a:gridCol w="4191000">
                  <a:extLst>
                    <a:ext uri="{9D8B030D-6E8A-4147-A177-3AD203B41FA5}">
                      <a16:colId xmlns:a16="http://schemas.microsoft.com/office/drawing/2014/main" val="20003"/>
                    </a:ext>
                  </a:extLst>
                </a:gridCol>
                <a:gridCol w="3581400">
                  <a:extLst>
                    <a:ext uri="{9D8B030D-6E8A-4147-A177-3AD203B41FA5}">
                      <a16:colId xmlns:a16="http://schemas.microsoft.com/office/drawing/2014/main" val="20004"/>
                    </a:ext>
                  </a:extLst>
                </a:gridCol>
              </a:tblGrid>
              <a:tr h="643802">
                <a:tc>
                  <a:txBody>
                    <a:bodyPr/>
                    <a:lstStyle/>
                    <a:p>
                      <a:pPr algn="ctr">
                        <a:lnSpc>
                          <a:spcPts val="2520"/>
                        </a:lnSpc>
                        <a:defRPr/>
                      </a:pPr>
                      <a:r>
                        <a:rPr lang="en-US" sz="3000" dirty="0">
                          <a:solidFill>
                            <a:srgbClr val="000000"/>
                          </a:solidFill>
                          <a:latin typeface="Times New Roman" panose="02020603050405020304" pitchFamily="18" charset="0"/>
                        </a:rPr>
                        <a:t>STT</a:t>
                      </a:r>
                      <a:endParaRPr lang="en-US" sz="3000" dirty="0"/>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20"/>
                        </a:lnSpc>
                        <a:defRPr/>
                      </a:pPr>
                      <a:r>
                        <a:rPr lang="en-US" sz="3000" dirty="0" err="1">
                          <a:solidFill>
                            <a:srgbClr val="000000"/>
                          </a:solidFill>
                          <a:latin typeface="Times New Roman" panose="02020603050405020304" pitchFamily="18" charset="0"/>
                        </a:rPr>
                        <a:t>Họ</a:t>
                      </a:r>
                      <a:r>
                        <a:rPr lang="en-US" sz="3000" dirty="0">
                          <a:solidFill>
                            <a:srgbClr val="000000"/>
                          </a:solidFill>
                          <a:latin typeface="Times New Roman" panose="02020603050405020304" pitchFamily="18" charset="0"/>
                        </a:rPr>
                        <a:t> </a:t>
                      </a:r>
                      <a:r>
                        <a:rPr lang="en-US" sz="3000" dirty="0" err="1">
                          <a:solidFill>
                            <a:srgbClr val="000000"/>
                          </a:solidFill>
                          <a:latin typeface="Times New Roman" panose="02020603050405020304" pitchFamily="18" charset="0"/>
                        </a:rPr>
                        <a:t>tên</a:t>
                      </a:r>
                      <a:endParaRPr lang="en-US" sz="3000" dirty="0"/>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20"/>
                        </a:lnSpc>
                        <a:defRPr/>
                      </a:pPr>
                      <a:r>
                        <a:rPr lang="en-US" sz="3000">
                          <a:solidFill>
                            <a:srgbClr val="000000"/>
                          </a:solidFill>
                          <a:latin typeface="Times New Roman" panose="02020603050405020304" pitchFamily="18" charset="0"/>
                        </a:rPr>
                        <a:t>Lớp</a:t>
                      </a:r>
                      <a:endParaRPr lang="en-US" sz="3000"/>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20"/>
                        </a:lnSpc>
                        <a:defRPr/>
                      </a:pPr>
                      <a:r>
                        <a:rPr lang="en-US" sz="3000" dirty="0">
                          <a:solidFill>
                            <a:srgbClr val="000000"/>
                          </a:solidFill>
                          <a:latin typeface="Times New Roman" panose="02020603050405020304" pitchFamily="18" charset="0"/>
                        </a:rPr>
                        <a:t>Khoa</a:t>
                      </a:r>
                      <a:endParaRPr lang="en-US" sz="3000" dirty="0"/>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20"/>
                        </a:lnSpc>
                        <a:defRPr/>
                      </a:pPr>
                      <a:r>
                        <a:rPr lang="en-US" sz="3000">
                          <a:solidFill>
                            <a:srgbClr val="000000"/>
                          </a:solidFill>
                          <a:latin typeface="Times New Roman" panose="02020603050405020304" pitchFamily="18" charset="0"/>
                        </a:rPr>
                        <a:t>Mã sinh viên</a:t>
                      </a:r>
                      <a:endParaRPr lang="en-US" sz="3000"/>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981031">
                <a:tc>
                  <a:txBody>
                    <a:bodyPr/>
                    <a:lstStyle/>
                    <a:p>
                      <a:pPr algn="ctr">
                        <a:lnSpc>
                          <a:spcPts val="2520"/>
                        </a:lnSpc>
                        <a:defRPr/>
                      </a:pPr>
                      <a:r>
                        <a:rPr lang="en-US" sz="2800" dirty="0">
                          <a:solidFill>
                            <a:srgbClr val="000000"/>
                          </a:solidFill>
                          <a:latin typeface="Times New Roman" panose="02020603050405020304" pitchFamily="18" charset="0"/>
                        </a:rPr>
                        <a:t>1</a:t>
                      </a:r>
                      <a:endParaRPr lang="en-US" sz="2800" dirty="0"/>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20"/>
                        </a:lnSpc>
                        <a:defRPr/>
                      </a:pPr>
                      <a:r>
                        <a:rPr lang="en-US" sz="2800" dirty="0">
                          <a:solidFill>
                            <a:srgbClr val="000000"/>
                          </a:solidFill>
                          <a:latin typeface="Times New Roman" panose="02020603050405020304" pitchFamily="18" charset="0"/>
                        </a:rPr>
                        <a:t>Nguyễn Mạnh Hùng</a:t>
                      </a:r>
                      <a:endParaRPr lang="en-US" sz="2800" dirty="0"/>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20"/>
                        </a:lnSpc>
                        <a:defRPr/>
                      </a:pPr>
                      <a:r>
                        <a:rPr lang="en-US" sz="2800" dirty="0">
                          <a:solidFill>
                            <a:srgbClr val="000000"/>
                          </a:solidFill>
                          <a:latin typeface="Times New Roman" panose="02020603050405020304" pitchFamily="18" charset="0"/>
                        </a:rPr>
                        <a:t>CNCNTT4 – K63</a:t>
                      </a:r>
                      <a:endParaRPr lang="en-US" sz="2800" dirty="0"/>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20"/>
                        </a:lnSpc>
                        <a:defRPr/>
                      </a:pPr>
                      <a:r>
                        <a:rPr lang="en-US" sz="2800" dirty="0">
                          <a:solidFill>
                            <a:srgbClr val="000000"/>
                          </a:solidFill>
                          <a:latin typeface="Times New Roman" panose="02020603050405020304" pitchFamily="18" charset="0"/>
                        </a:rPr>
                        <a:t>Công Nghệ Thông Tin</a:t>
                      </a:r>
                      <a:endParaRPr lang="en-US" sz="2800" dirty="0"/>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20"/>
                        </a:lnSpc>
                        <a:defRPr/>
                      </a:pPr>
                      <a:r>
                        <a:rPr lang="en-US" sz="2800" dirty="0">
                          <a:solidFill>
                            <a:srgbClr val="000000"/>
                          </a:solidFill>
                          <a:latin typeface="Times New Roman" panose="02020603050405020304" pitchFamily="18" charset="0"/>
                        </a:rPr>
                        <a:t>221220848</a:t>
                      </a:r>
                      <a:endParaRPr lang="en-US" sz="2800" dirty="0"/>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3" name="TextBox 3"/>
          <p:cNvSpPr txBox="1"/>
          <p:nvPr/>
        </p:nvSpPr>
        <p:spPr>
          <a:xfrm>
            <a:off x="1295400" y="2421771"/>
            <a:ext cx="16143905" cy="5770811"/>
          </a:xfrm>
          <a:prstGeom prst="rect">
            <a:avLst/>
          </a:prstGeom>
        </p:spPr>
        <p:txBody>
          <a:bodyPr lIns="0" tIns="0" rIns="0" bIns="0" rtlCol="0" anchor="t">
            <a:spAutoFit/>
          </a:bodyPr>
          <a:lstStyle/>
          <a:p>
            <a:pPr algn="l">
              <a:lnSpc>
                <a:spcPts val="5040"/>
              </a:lnSpc>
            </a:pPr>
            <a:r>
              <a:rPr lang="en-US" sz="4200" b="1" dirty="0">
                <a:solidFill>
                  <a:srgbClr val="0D0D0D"/>
                </a:solidFill>
                <a:latin typeface="+mj-lt"/>
              </a:rPr>
              <a:t>I. GIỚI THIỆU</a:t>
            </a:r>
          </a:p>
          <a:p>
            <a:pPr algn="l">
              <a:lnSpc>
                <a:spcPts val="5040"/>
              </a:lnSpc>
            </a:pPr>
            <a:endParaRPr lang="en-US" sz="4200" b="1" dirty="0">
              <a:solidFill>
                <a:srgbClr val="0D0D0D"/>
              </a:solidFill>
              <a:latin typeface="+mj-lt"/>
            </a:endParaRPr>
          </a:p>
          <a:p>
            <a:pPr algn="l">
              <a:lnSpc>
                <a:spcPts val="5040"/>
              </a:lnSpc>
            </a:pPr>
            <a:r>
              <a:rPr lang="en-US" sz="4200" b="1" dirty="0">
                <a:solidFill>
                  <a:srgbClr val="0D0D0D"/>
                </a:solidFill>
                <a:latin typeface="+mj-lt"/>
              </a:rPr>
              <a:t>II. PHÂN TÍCH VÀ THIẾT KẾ</a:t>
            </a:r>
          </a:p>
          <a:p>
            <a:pPr algn="l">
              <a:lnSpc>
                <a:spcPts val="5040"/>
              </a:lnSpc>
            </a:pPr>
            <a:endParaRPr lang="en-US" sz="4200" b="1" dirty="0">
              <a:solidFill>
                <a:srgbClr val="0D0D0D"/>
              </a:solidFill>
              <a:latin typeface="+mj-lt"/>
            </a:endParaRPr>
          </a:p>
          <a:p>
            <a:pPr algn="l">
              <a:lnSpc>
                <a:spcPts val="5040"/>
              </a:lnSpc>
            </a:pPr>
            <a:r>
              <a:rPr lang="en-US" sz="4200" b="1" dirty="0">
                <a:solidFill>
                  <a:srgbClr val="0D0D0D"/>
                </a:solidFill>
                <a:latin typeface="+mj-lt"/>
              </a:rPr>
              <a:t>III. TRIỂN KHAI KỸ THUẬT </a:t>
            </a:r>
          </a:p>
          <a:p>
            <a:pPr algn="l">
              <a:lnSpc>
                <a:spcPts val="5040"/>
              </a:lnSpc>
            </a:pPr>
            <a:endParaRPr lang="en-US" sz="4200" b="1" dirty="0">
              <a:solidFill>
                <a:srgbClr val="0D0D0D"/>
              </a:solidFill>
              <a:latin typeface="+mj-lt"/>
            </a:endParaRPr>
          </a:p>
          <a:p>
            <a:pPr algn="l">
              <a:lnSpc>
                <a:spcPts val="5040"/>
              </a:lnSpc>
            </a:pPr>
            <a:r>
              <a:rPr lang="en-US" sz="4200" b="1" dirty="0">
                <a:solidFill>
                  <a:srgbClr val="0D0D0D"/>
                </a:solidFill>
                <a:latin typeface="+mj-lt"/>
              </a:rPr>
              <a:t>IV. KẾT QUẢ VÀ ĐÁNH GIÁ</a:t>
            </a:r>
          </a:p>
          <a:p>
            <a:pPr algn="l">
              <a:lnSpc>
                <a:spcPts val="5040"/>
              </a:lnSpc>
            </a:pPr>
            <a:endParaRPr lang="en-US" sz="4200" b="1" dirty="0">
              <a:solidFill>
                <a:srgbClr val="0D0D0D"/>
              </a:solidFill>
              <a:latin typeface="+mj-lt"/>
            </a:endParaRPr>
          </a:p>
          <a:p>
            <a:pPr algn="l">
              <a:lnSpc>
                <a:spcPts val="5040"/>
              </a:lnSpc>
            </a:pPr>
            <a:r>
              <a:rPr lang="en-US" sz="4200" b="1" dirty="0">
                <a:solidFill>
                  <a:srgbClr val="0D0D0D"/>
                </a:solidFill>
                <a:latin typeface="+mj-lt"/>
              </a:rPr>
              <a:t>V. KẾT LUẬN</a:t>
            </a:r>
          </a:p>
        </p:txBody>
      </p:sp>
      <p:sp>
        <p:nvSpPr>
          <p:cNvPr id="4" name="TextBox 4"/>
          <p:cNvSpPr txBox="1"/>
          <p:nvPr/>
        </p:nvSpPr>
        <p:spPr>
          <a:xfrm>
            <a:off x="2377440" y="486986"/>
            <a:ext cx="13533120" cy="641201"/>
          </a:xfrm>
          <a:prstGeom prst="rect">
            <a:avLst/>
          </a:prstGeom>
        </p:spPr>
        <p:txBody>
          <a:bodyPr lIns="0" tIns="0" rIns="0" bIns="0" rtlCol="0" anchor="t">
            <a:spAutoFit/>
          </a:bodyPr>
          <a:lstStyle/>
          <a:p>
            <a:pPr algn="ctr">
              <a:lnSpc>
                <a:spcPts val="5040"/>
              </a:lnSpc>
            </a:pPr>
            <a:r>
              <a:rPr lang="en-US" sz="4200" b="1" dirty="0">
                <a:solidFill>
                  <a:srgbClr val="FFFFFF"/>
                </a:solidFill>
                <a:latin typeface="Arial" panose="020B0604020202020204" pitchFamily="34" charset="0"/>
                <a:cs typeface="Arial" panose="020B0604020202020204" pitchFamily="34" charset="0"/>
              </a:rPr>
              <a:t>ĐỒ ÁN TỐT NGHIỆP SINH VIÊN 2026</a:t>
            </a:r>
          </a:p>
        </p:txBody>
      </p:sp>
      <p:sp>
        <p:nvSpPr>
          <p:cNvPr id="5" name="TextBox 5"/>
          <p:cNvSpPr txBox="1"/>
          <p:nvPr/>
        </p:nvSpPr>
        <p:spPr>
          <a:xfrm>
            <a:off x="13197840" y="9523096"/>
            <a:ext cx="4084320" cy="410369"/>
          </a:xfrm>
          <a:prstGeom prst="rect">
            <a:avLst/>
          </a:prstGeom>
        </p:spPr>
        <p:txBody>
          <a:bodyPr lIns="0" tIns="0" rIns="0" bIns="0" rtlCol="0" anchor="t">
            <a:spAutoFit/>
          </a:bodyPr>
          <a:lstStyle/>
          <a:p>
            <a:pPr algn="r">
              <a:lnSpc>
                <a:spcPts val="3240"/>
              </a:lnSpc>
            </a:pPr>
            <a:r>
              <a:rPr lang="en-US" sz="2700">
                <a:solidFill>
                  <a:srgbClr val="0000FF"/>
                </a:solidFill>
                <a:latin typeface="Times New Roman" panose="02020603050405020304" pitchFamily="18" charset="0"/>
              </a:rPr>
              <a:t>3</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5" name="TextBox 5"/>
          <p:cNvSpPr txBox="1"/>
          <p:nvPr/>
        </p:nvSpPr>
        <p:spPr>
          <a:xfrm>
            <a:off x="990600" y="2400300"/>
            <a:ext cx="15588349" cy="4431983"/>
          </a:xfrm>
          <a:prstGeom prst="rect">
            <a:avLst/>
          </a:prstGeom>
        </p:spPr>
        <p:txBody>
          <a:bodyPr lIns="0" tIns="0" rIns="0" bIns="0" rtlCol="0" anchor="t">
            <a:spAutoFit/>
          </a:bodyPr>
          <a:lstStyle/>
          <a:p>
            <a:pPr marL="571500" indent="-571500">
              <a:buFontTx/>
              <a:buChar char="-"/>
            </a:pPr>
            <a:r>
              <a:rPr lang="en-US" sz="3500" dirty="0"/>
              <a:t>T</a:t>
            </a:r>
            <a:r>
              <a:rPr lang="vi-VN" sz="3500" dirty="0"/>
              <a:t>rong những năm gần đây, các trò chơi mô phỏng kết hợp yếu tố hợp tác nhiều người chơi đang ngày càng phát triển mạnh mẽ trên nền tảng PC. </a:t>
            </a:r>
            <a:endParaRPr lang="en-US" sz="3500" dirty="0"/>
          </a:p>
          <a:p>
            <a:pPr marL="571500" indent="-571500">
              <a:buFontTx/>
              <a:buChar char="-"/>
            </a:pPr>
            <a:r>
              <a:rPr lang="vi-VN" sz="3500" dirty="0"/>
              <a:t>Những trò chơi này không chỉ tập trung vào lối chơi đơn giản mà còn chú trọng đến trải nghiệm phối hợp nhóm và tính tương tác cao giữa các người chơi.</a:t>
            </a:r>
          </a:p>
          <a:p>
            <a:r>
              <a:rPr lang="vi-VN" sz="3500" dirty="0"/>
              <a:t>⇨ Xuất phát từ xu hướng đó, đề tài lựa chọn phát triển một trò chơi mô phỏng nấu ăn trong môi trường 3D, trong đó người chơi cần điều khiển nhân vật, phối hợp thu thập nguyên liệu, chế biến và phục vụ món ăn để hoàn thành nhiệm vụ trong thời gian giới hạn.</a:t>
            </a:r>
          </a:p>
        </p:txBody>
      </p:sp>
      <p:sp>
        <p:nvSpPr>
          <p:cNvPr id="6" name="TextBox 6"/>
          <p:cNvSpPr txBox="1"/>
          <p:nvPr/>
        </p:nvSpPr>
        <p:spPr>
          <a:xfrm>
            <a:off x="1514799" y="478334"/>
            <a:ext cx="13533120" cy="641201"/>
          </a:xfrm>
          <a:prstGeom prst="rect">
            <a:avLst/>
          </a:prstGeom>
        </p:spPr>
        <p:txBody>
          <a:bodyPr lIns="0" tIns="0" rIns="0" bIns="0" rtlCol="0" anchor="t">
            <a:spAutoFit/>
          </a:bodyPr>
          <a:lstStyle/>
          <a:p>
            <a:pPr algn="ctr">
              <a:lnSpc>
                <a:spcPts val="5040"/>
              </a:lnSpc>
            </a:pPr>
            <a:r>
              <a:rPr lang="en-US" sz="4200" b="1">
                <a:solidFill>
                  <a:srgbClr val="FFFFFF"/>
                </a:solidFill>
                <a:latin typeface="Arial" panose="020B0604020202020204" pitchFamily="34" charset="0"/>
                <a:cs typeface="Arial" panose="020B0604020202020204" pitchFamily="34" charset="0"/>
              </a:rPr>
              <a:t>I. GIỚI THIỆU</a:t>
            </a:r>
          </a:p>
        </p:txBody>
      </p:sp>
      <p:sp>
        <p:nvSpPr>
          <p:cNvPr id="8" name="TextBox 8"/>
          <p:cNvSpPr txBox="1"/>
          <p:nvPr/>
        </p:nvSpPr>
        <p:spPr>
          <a:xfrm>
            <a:off x="13197840" y="9546433"/>
            <a:ext cx="4084320" cy="410369"/>
          </a:xfrm>
          <a:prstGeom prst="rect">
            <a:avLst/>
          </a:prstGeom>
        </p:spPr>
        <p:txBody>
          <a:bodyPr lIns="0" tIns="0" rIns="0" bIns="0" rtlCol="0" anchor="t">
            <a:spAutoFit/>
          </a:bodyPr>
          <a:lstStyle/>
          <a:p>
            <a:pPr algn="r">
              <a:lnSpc>
                <a:spcPts val="3240"/>
              </a:lnSpc>
            </a:pPr>
            <a:r>
              <a:rPr lang="en-US" sz="2700" dirty="0">
                <a:solidFill>
                  <a:srgbClr val="0000FF"/>
                </a:solidFill>
                <a:latin typeface="Times New Roman" panose="02020603050405020304" pitchFamily="18" charset="0"/>
              </a:rPr>
              <a:t>4</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E2A07-AD3C-C819-186A-F3D3568BCDB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DB27D7A-1A59-8A40-5B7A-3706D2AC204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5" name="TextBox 5">
            <a:extLst>
              <a:ext uri="{FF2B5EF4-FFF2-40B4-BE49-F238E27FC236}">
                <a16:creationId xmlns:a16="http://schemas.microsoft.com/office/drawing/2014/main" id="{72D5DD4E-9969-4457-5ED0-C1EEC1C05A1C}"/>
              </a:ext>
            </a:extLst>
          </p:cNvPr>
          <p:cNvSpPr txBox="1"/>
          <p:nvPr/>
        </p:nvSpPr>
        <p:spPr>
          <a:xfrm>
            <a:off x="1349825" y="2095500"/>
            <a:ext cx="15588349" cy="4308872"/>
          </a:xfrm>
          <a:prstGeom prst="rect">
            <a:avLst/>
          </a:prstGeom>
        </p:spPr>
        <p:txBody>
          <a:bodyPr lIns="0" tIns="0" rIns="0" bIns="0" rtlCol="0" anchor="t">
            <a:spAutoFit/>
          </a:bodyPr>
          <a:lstStyle/>
          <a:p>
            <a:r>
              <a:rPr lang="en-US" sz="3500" dirty="0"/>
              <a:t>Thay </a:t>
            </a:r>
            <a:r>
              <a:rPr lang="vi-VN" sz="3500" dirty="0"/>
              <a:t>vì hướng đến cạnh tranh với các sản phẩm thương mại về mặt chất lượng đồ họa hay quy mô, đề tài tập trung vào mục tiêu </a:t>
            </a:r>
            <a:r>
              <a:rPr lang="vi-VN" sz="3500" b="1" dirty="0"/>
              <a:t>học thuật và kỹ thuật</a:t>
            </a:r>
            <a:r>
              <a:rPr lang="vi-VN" sz="3500" dirty="0"/>
              <a:t>, cụ thể:</a:t>
            </a:r>
            <a:endParaRPr lang="en-US" sz="3500" dirty="0"/>
          </a:p>
          <a:p>
            <a:r>
              <a:rPr lang="vi-VN" sz="3500" dirty="0"/>
              <a:t>⇨ </a:t>
            </a:r>
            <a:r>
              <a:rPr lang="vi-VN" sz="3500" b="1" dirty="0"/>
              <a:t>(1)</a:t>
            </a:r>
            <a:r>
              <a:rPr lang="vi-VN" sz="3500" dirty="0"/>
              <a:t> Nghiên cứu và áp dụng các kỹ thuật lập trình game hiện đại như design patterns, kiến trúc phân lớp và đồng bộ mạng theo mô hình Host-Client</a:t>
            </a:r>
          </a:p>
          <a:p>
            <a:r>
              <a:rPr lang="vi-VN" sz="3500" dirty="0"/>
              <a:t>⇨ </a:t>
            </a:r>
            <a:r>
              <a:rPr lang="vi-VN" sz="3500" b="1" dirty="0"/>
              <a:t>(2)</a:t>
            </a:r>
            <a:r>
              <a:rPr lang="vi-VN" sz="3500" dirty="0"/>
              <a:t> Xây dựng hệ thống Level Editor phục vụ mục đích mở rộng nội dung game một cách linh hoạt</a:t>
            </a:r>
          </a:p>
          <a:p>
            <a:r>
              <a:rPr lang="vi-VN" sz="3500" dirty="0"/>
              <a:t>⇨ </a:t>
            </a:r>
            <a:r>
              <a:rPr lang="vi-VN" sz="3500" b="1" dirty="0"/>
              <a:t>(3)</a:t>
            </a:r>
            <a:r>
              <a:rPr lang="vi-VN" sz="3500" dirty="0"/>
              <a:t> Tạo ra một sản phẩm hoàn chỉnh, có nền tảng kỹ thuật vững chắc để tiếp tục phát triển trong tương lai</a:t>
            </a:r>
          </a:p>
        </p:txBody>
      </p:sp>
      <p:sp>
        <p:nvSpPr>
          <p:cNvPr id="6" name="TextBox 6">
            <a:extLst>
              <a:ext uri="{FF2B5EF4-FFF2-40B4-BE49-F238E27FC236}">
                <a16:creationId xmlns:a16="http://schemas.microsoft.com/office/drawing/2014/main" id="{04D8FCB1-E611-9735-80E8-544A2170E02E}"/>
              </a:ext>
            </a:extLst>
          </p:cNvPr>
          <p:cNvSpPr txBox="1"/>
          <p:nvPr/>
        </p:nvSpPr>
        <p:spPr>
          <a:xfrm>
            <a:off x="1514799" y="478334"/>
            <a:ext cx="13533120" cy="641201"/>
          </a:xfrm>
          <a:prstGeom prst="rect">
            <a:avLst/>
          </a:prstGeom>
        </p:spPr>
        <p:txBody>
          <a:bodyPr lIns="0" tIns="0" rIns="0" bIns="0" rtlCol="0" anchor="t">
            <a:spAutoFit/>
          </a:bodyPr>
          <a:lstStyle/>
          <a:p>
            <a:pPr algn="ctr">
              <a:lnSpc>
                <a:spcPts val="5040"/>
              </a:lnSpc>
            </a:pPr>
            <a:r>
              <a:rPr lang="en-US" sz="4200" b="1">
                <a:solidFill>
                  <a:srgbClr val="FFFFFF"/>
                </a:solidFill>
                <a:latin typeface="Arial" panose="020B0604020202020204" pitchFamily="34" charset="0"/>
                <a:cs typeface="Arial" panose="020B0604020202020204" pitchFamily="34" charset="0"/>
              </a:rPr>
              <a:t>I. GIỚI THIỆU</a:t>
            </a:r>
          </a:p>
        </p:txBody>
      </p:sp>
      <p:sp>
        <p:nvSpPr>
          <p:cNvPr id="8" name="TextBox 8">
            <a:extLst>
              <a:ext uri="{FF2B5EF4-FFF2-40B4-BE49-F238E27FC236}">
                <a16:creationId xmlns:a16="http://schemas.microsoft.com/office/drawing/2014/main" id="{EF0BA904-075D-84B3-DF4F-BDC814C8236C}"/>
              </a:ext>
            </a:extLst>
          </p:cNvPr>
          <p:cNvSpPr txBox="1"/>
          <p:nvPr/>
        </p:nvSpPr>
        <p:spPr>
          <a:xfrm>
            <a:off x="13197840" y="9546433"/>
            <a:ext cx="4084320" cy="410369"/>
          </a:xfrm>
          <a:prstGeom prst="rect">
            <a:avLst/>
          </a:prstGeom>
        </p:spPr>
        <p:txBody>
          <a:bodyPr lIns="0" tIns="0" rIns="0" bIns="0" rtlCol="0" anchor="t">
            <a:spAutoFit/>
          </a:bodyPr>
          <a:lstStyle/>
          <a:p>
            <a:pPr algn="r">
              <a:lnSpc>
                <a:spcPts val="3240"/>
              </a:lnSpc>
            </a:pPr>
            <a:r>
              <a:rPr lang="en-US" sz="2700" dirty="0">
                <a:solidFill>
                  <a:srgbClr val="0000FF"/>
                </a:solidFill>
                <a:latin typeface="Times New Roman" panose="02020603050405020304" pitchFamily="18" charset="0"/>
              </a:rPr>
              <a:t>5</a:t>
            </a:r>
          </a:p>
        </p:txBody>
      </p:sp>
    </p:spTree>
    <p:extLst>
      <p:ext uri="{BB962C8B-B14F-4D97-AF65-F5344CB8AC3E}">
        <p14:creationId xmlns:p14="http://schemas.microsoft.com/office/powerpoint/2010/main" val="314195199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B72E5-24A2-4546-9505-961BD94E1A1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D00661E-B784-A6D2-364F-CF42B5F4D2F1}"/>
              </a:ext>
            </a:extLst>
          </p:cNvPr>
          <p:cNvSpPr/>
          <p:nvPr/>
        </p:nvSpPr>
        <p:spPr>
          <a:xfrm>
            <a:off x="-20782"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5" name="TextBox 5">
            <a:extLst>
              <a:ext uri="{FF2B5EF4-FFF2-40B4-BE49-F238E27FC236}">
                <a16:creationId xmlns:a16="http://schemas.microsoft.com/office/drawing/2014/main" id="{592D24AD-0625-F857-B6ED-3143E3C1899A}"/>
              </a:ext>
            </a:extLst>
          </p:cNvPr>
          <p:cNvSpPr txBox="1"/>
          <p:nvPr/>
        </p:nvSpPr>
        <p:spPr>
          <a:xfrm>
            <a:off x="1349825" y="1758353"/>
            <a:ext cx="15588349" cy="3416320"/>
          </a:xfrm>
          <a:prstGeom prst="rect">
            <a:avLst/>
          </a:prstGeom>
        </p:spPr>
        <p:txBody>
          <a:bodyPr lIns="0" tIns="0" rIns="0" bIns="0" rtlCol="0" anchor="t">
            <a:spAutoFit/>
          </a:bodyPr>
          <a:lstStyle/>
          <a:p>
            <a:r>
              <a:rPr lang="en-US" sz="4000" b="1" dirty="0"/>
              <a:t>Photon Fusion:</a:t>
            </a:r>
          </a:p>
          <a:p>
            <a:pPr marL="457200" indent="-457200">
              <a:buFont typeface="Arial" panose="020B0604020202020204" pitchFamily="34" charset="0"/>
              <a:buChar char="•"/>
            </a:pPr>
            <a:r>
              <a:rPr lang="vi-VN" sz="2600" b="1" dirty="0"/>
              <a:t>Đồng bộ trạng thái hiệu quả</a:t>
            </a:r>
            <a:r>
              <a:rPr lang="vi-VN" sz="2600" dirty="0"/>
              <a:t>: Cung cấp cơ chế đồng bộ hóa trạng thái nhanh chóng giữa các máy khách và máy chủ, giảm độ trễ và tăng hiệu năng.</a:t>
            </a:r>
          </a:p>
          <a:p>
            <a:pPr marL="457200" indent="-457200">
              <a:buFont typeface="Arial" panose="020B0604020202020204" pitchFamily="34" charset="0"/>
              <a:buChar char="•"/>
            </a:pPr>
            <a:r>
              <a:rPr lang="vi-VN" sz="2600" b="1" dirty="0"/>
              <a:t>Hỗ trợ đa nền tảng</a:t>
            </a:r>
            <a:r>
              <a:rPr lang="vi-VN" sz="2600" dirty="0"/>
              <a:t>: Tương thích với nhiều nền tảng khác nhau, từ PC, console đến thiết bị di động.</a:t>
            </a:r>
          </a:p>
          <a:p>
            <a:pPr marL="457200" indent="-457200">
              <a:buFont typeface="Arial" panose="020B0604020202020204" pitchFamily="34" charset="0"/>
              <a:buChar char="•"/>
            </a:pPr>
            <a:r>
              <a:rPr lang="vi-VN" sz="2600" b="1" dirty="0"/>
              <a:t>Chế độ kết nối linh hoạt</a:t>
            </a:r>
            <a:r>
              <a:rPr lang="vi-VN" sz="2600" dirty="0"/>
              <a:t>: Bao gồm cả mô hình máy chủ-điều khiển (host-server) và mô hình máy chủ chuyên dụng (dedicated server).</a:t>
            </a:r>
          </a:p>
          <a:p>
            <a:pPr marL="457200" indent="-457200">
              <a:buFont typeface="Arial" panose="020B0604020202020204" pitchFamily="34" charset="0"/>
              <a:buChar char="•"/>
            </a:pPr>
            <a:r>
              <a:rPr lang="vi-VN" sz="2600" b="1" dirty="0"/>
              <a:t>Tích hợp dễ dàng</a:t>
            </a:r>
            <a:r>
              <a:rPr lang="vi-VN" sz="2600" dirty="0"/>
              <a:t>: Tích hợp tốt với các công cụ phát triển game phổ biến như Unity, giúp nhà phát triển triển khai nhanh chóng.</a:t>
            </a:r>
          </a:p>
        </p:txBody>
      </p:sp>
      <p:sp>
        <p:nvSpPr>
          <p:cNvPr id="6" name="TextBox 6">
            <a:extLst>
              <a:ext uri="{FF2B5EF4-FFF2-40B4-BE49-F238E27FC236}">
                <a16:creationId xmlns:a16="http://schemas.microsoft.com/office/drawing/2014/main" id="{4E6FADBA-47FE-704A-9A77-5187B98B77C0}"/>
              </a:ext>
            </a:extLst>
          </p:cNvPr>
          <p:cNvSpPr txBox="1"/>
          <p:nvPr/>
        </p:nvSpPr>
        <p:spPr>
          <a:xfrm>
            <a:off x="1514799" y="478334"/>
            <a:ext cx="13533120" cy="641201"/>
          </a:xfrm>
          <a:prstGeom prst="rect">
            <a:avLst/>
          </a:prstGeom>
        </p:spPr>
        <p:txBody>
          <a:bodyPr lIns="0" tIns="0" rIns="0" bIns="0" rtlCol="0" anchor="t">
            <a:spAutoFit/>
          </a:bodyPr>
          <a:lstStyle/>
          <a:p>
            <a:pPr algn="ctr">
              <a:lnSpc>
                <a:spcPts val="5040"/>
              </a:lnSpc>
            </a:pPr>
            <a:r>
              <a:rPr lang="en-US" sz="4200" b="1" dirty="0">
                <a:solidFill>
                  <a:srgbClr val="FFFFFF"/>
                </a:solidFill>
                <a:latin typeface="Arial" panose="020B0604020202020204" pitchFamily="34" charset="0"/>
                <a:cs typeface="Arial" panose="020B0604020202020204" pitchFamily="34" charset="0"/>
              </a:rPr>
              <a:t>II. PHÂN TÍCH VÀ THIẾT KẾ</a:t>
            </a:r>
          </a:p>
        </p:txBody>
      </p:sp>
      <p:sp>
        <p:nvSpPr>
          <p:cNvPr id="8" name="TextBox 8">
            <a:extLst>
              <a:ext uri="{FF2B5EF4-FFF2-40B4-BE49-F238E27FC236}">
                <a16:creationId xmlns:a16="http://schemas.microsoft.com/office/drawing/2014/main" id="{A2689EB8-A14B-D56B-C30F-FFC7058015D7}"/>
              </a:ext>
            </a:extLst>
          </p:cNvPr>
          <p:cNvSpPr txBox="1"/>
          <p:nvPr/>
        </p:nvSpPr>
        <p:spPr>
          <a:xfrm>
            <a:off x="13197840" y="9546433"/>
            <a:ext cx="4084320" cy="410369"/>
          </a:xfrm>
          <a:prstGeom prst="rect">
            <a:avLst/>
          </a:prstGeom>
        </p:spPr>
        <p:txBody>
          <a:bodyPr lIns="0" tIns="0" rIns="0" bIns="0" rtlCol="0" anchor="t">
            <a:spAutoFit/>
          </a:bodyPr>
          <a:lstStyle/>
          <a:p>
            <a:pPr algn="r">
              <a:lnSpc>
                <a:spcPts val="3240"/>
              </a:lnSpc>
            </a:pPr>
            <a:r>
              <a:rPr lang="en-US" sz="2700" dirty="0">
                <a:solidFill>
                  <a:srgbClr val="0000FF"/>
                </a:solidFill>
                <a:latin typeface="Times New Roman" panose="02020603050405020304" pitchFamily="18" charset="0"/>
              </a:rPr>
              <a:t>6</a:t>
            </a:r>
          </a:p>
        </p:txBody>
      </p:sp>
      <p:pic>
        <p:nvPicPr>
          <p:cNvPr id="3" name="Picture 2" descr="PHOTON FUSION CÓ VAI TRÒ GÌ TRONG PHÁT TRIỂN GAME?">
            <a:extLst>
              <a:ext uri="{FF2B5EF4-FFF2-40B4-BE49-F238E27FC236}">
                <a16:creationId xmlns:a16="http://schemas.microsoft.com/office/drawing/2014/main" id="{10756E47-95F8-A931-6B50-E01A43DA6B49}"/>
              </a:ext>
            </a:extLst>
          </p:cNvPr>
          <p:cNvPicPr>
            <a:picLocks noChangeAspect="1"/>
          </p:cNvPicPr>
          <p:nvPr/>
        </p:nvPicPr>
        <p:blipFill>
          <a:blip r:embed="rId4"/>
          <a:stretch>
            <a:fillRect/>
          </a:stretch>
        </p:blipFill>
        <p:spPr>
          <a:xfrm>
            <a:off x="946562" y="5915050"/>
            <a:ext cx="7698576" cy="4041752"/>
          </a:xfrm>
          <a:prstGeom prst="rect">
            <a:avLst/>
          </a:prstGeom>
        </p:spPr>
      </p:pic>
      <p:pic>
        <p:nvPicPr>
          <p:cNvPr id="4" name="Picture 3">
            <a:extLst>
              <a:ext uri="{FF2B5EF4-FFF2-40B4-BE49-F238E27FC236}">
                <a16:creationId xmlns:a16="http://schemas.microsoft.com/office/drawing/2014/main" id="{0C5A8D89-F5E6-35C2-1717-3AC2C2FA5869}"/>
              </a:ext>
            </a:extLst>
          </p:cNvPr>
          <p:cNvPicPr>
            <a:picLocks noChangeAspect="1"/>
          </p:cNvPicPr>
          <p:nvPr/>
        </p:nvPicPr>
        <p:blipFill>
          <a:blip r:embed="rId5"/>
          <a:stretch>
            <a:fillRect/>
          </a:stretch>
        </p:blipFill>
        <p:spPr>
          <a:xfrm>
            <a:off x="9681753" y="5871109"/>
            <a:ext cx="7032174" cy="4085693"/>
          </a:xfrm>
          <a:prstGeom prst="rect">
            <a:avLst/>
          </a:prstGeom>
        </p:spPr>
      </p:pic>
    </p:spTree>
    <p:extLst>
      <p:ext uri="{BB962C8B-B14F-4D97-AF65-F5344CB8AC3E}">
        <p14:creationId xmlns:p14="http://schemas.microsoft.com/office/powerpoint/2010/main" val="407642389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D57B9-E623-EEAD-9431-0730216A2A4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B810BDD-0745-952D-D9E2-D65F41B85B6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dirty="0"/>
          </a:p>
        </p:txBody>
      </p:sp>
      <p:sp>
        <p:nvSpPr>
          <p:cNvPr id="5" name="TextBox 5">
            <a:extLst>
              <a:ext uri="{FF2B5EF4-FFF2-40B4-BE49-F238E27FC236}">
                <a16:creationId xmlns:a16="http://schemas.microsoft.com/office/drawing/2014/main" id="{38019310-04D0-3B91-E6EF-CC15B7DC7237}"/>
              </a:ext>
            </a:extLst>
          </p:cNvPr>
          <p:cNvSpPr txBox="1"/>
          <p:nvPr/>
        </p:nvSpPr>
        <p:spPr>
          <a:xfrm>
            <a:off x="1349825" y="1819513"/>
            <a:ext cx="15588349" cy="4616648"/>
          </a:xfrm>
          <a:prstGeom prst="rect">
            <a:avLst/>
          </a:prstGeom>
        </p:spPr>
        <p:txBody>
          <a:bodyPr lIns="0" tIns="0" rIns="0" bIns="0" rtlCol="0" anchor="t">
            <a:spAutoFit/>
          </a:bodyPr>
          <a:lstStyle/>
          <a:p>
            <a:r>
              <a:rPr lang="en-US" sz="4000" b="1" dirty="0"/>
              <a:t>Các </a:t>
            </a:r>
            <a:r>
              <a:rPr lang="en-US" sz="4000" b="1" dirty="0" err="1"/>
              <a:t>khái</a:t>
            </a:r>
            <a:r>
              <a:rPr lang="en-US" sz="4000" b="1" dirty="0"/>
              <a:t> </a:t>
            </a:r>
            <a:r>
              <a:rPr lang="en-US" sz="4000" b="1" dirty="0" err="1"/>
              <a:t>niệm</a:t>
            </a:r>
            <a:r>
              <a:rPr lang="en-US" sz="4000" b="1" dirty="0"/>
              <a:t> </a:t>
            </a:r>
            <a:r>
              <a:rPr lang="en-US" sz="4000" b="1" dirty="0" err="1"/>
              <a:t>trong</a:t>
            </a:r>
            <a:r>
              <a:rPr lang="en-US" sz="4000" b="1" dirty="0"/>
              <a:t> Photon Fusion:</a:t>
            </a:r>
          </a:p>
          <a:p>
            <a:pPr marL="457200" indent="-457200">
              <a:buFont typeface="Arial" panose="020B0604020202020204" pitchFamily="34" charset="0"/>
              <a:buChar char="•"/>
            </a:pPr>
            <a:r>
              <a:rPr lang="vi-VN" sz="2600" dirty="0"/>
              <a:t>🔁 </a:t>
            </a:r>
            <a:r>
              <a:rPr lang="vi-VN" sz="2600" b="1" dirty="0"/>
              <a:t>Tick</a:t>
            </a:r>
            <a:r>
              <a:rPr lang="en-US" sz="2600" b="1" dirty="0"/>
              <a:t>: </a:t>
            </a:r>
            <a:r>
              <a:rPr lang="vi-VN" sz="2600" dirty="0"/>
              <a:t>Đơn vị thời gian nhỏ nhất</a:t>
            </a:r>
            <a:r>
              <a:rPr lang="en-US" sz="2600" dirty="0"/>
              <a:t> </a:t>
            </a:r>
            <a:r>
              <a:rPr lang="en-US" sz="2600" dirty="0" err="1"/>
              <a:t>trong</a:t>
            </a:r>
            <a:r>
              <a:rPr lang="en-US" sz="2600" dirty="0"/>
              <a:t> </a:t>
            </a:r>
            <a:r>
              <a:rPr lang="en-US" sz="2600" dirty="0" err="1"/>
              <a:t>quy</a:t>
            </a:r>
            <a:r>
              <a:rPr lang="en-US" sz="2600" dirty="0"/>
              <a:t> </a:t>
            </a:r>
            <a:r>
              <a:rPr lang="en-US" sz="2600" dirty="0" err="1"/>
              <a:t>trình</a:t>
            </a:r>
            <a:r>
              <a:rPr lang="en-US" sz="2600" dirty="0"/>
              <a:t> </a:t>
            </a:r>
            <a:r>
              <a:rPr lang="en-US" sz="2600" dirty="0" err="1"/>
              <a:t>truyển</a:t>
            </a:r>
            <a:r>
              <a:rPr lang="en-US" sz="2600" dirty="0"/>
              <a:t> – </a:t>
            </a:r>
            <a:r>
              <a:rPr lang="en-US" sz="2600" dirty="0" err="1"/>
              <a:t>nhận</a:t>
            </a:r>
            <a:r>
              <a:rPr lang="en-US" sz="2600" dirty="0"/>
              <a:t> </a:t>
            </a:r>
            <a:r>
              <a:rPr lang="en-US" sz="2600" dirty="0" err="1"/>
              <a:t>gói</a:t>
            </a:r>
            <a:r>
              <a:rPr lang="en-US" sz="2600" dirty="0"/>
              <a:t> tin qua </a:t>
            </a:r>
            <a:r>
              <a:rPr lang="en-US" sz="2600" dirty="0" err="1"/>
              <a:t>mạng</a:t>
            </a:r>
            <a:r>
              <a:rPr lang="en-US" sz="2600" dirty="0"/>
              <a:t>. </a:t>
            </a:r>
            <a:r>
              <a:rPr lang="en-US" sz="2600" dirty="0" err="1"/>
              <a:t>Đại</a:t>
            </a:r>
            <a:r>
              <a:rPr lang="en-US" sz="2600" dirty="0"/>
              <a:t> </a:t>
            </a:r>
            <a:r>
              <a:rPr lang="en-US" sz="2600" dirty="0" err="1"/>
              <a:t>diện</a:t>
            </a:r>
            <a:r>
              <a:rPr lang="en-US" sz="2600" dirty="0"/>
              <a:t> </a:t>
            </a:r>
            <a:r>
              <a:rPr lang="en-US" sz="2600" dirty="0" err="1"/>
              <a:t>cho</a:t>
            </a:r>
            <a:r>
              <a:rPr lang="en-US" sz="2600" dirty="0"/>
              <a:t> </a:t>
            </a:r>
            <a:r>
              <a:rPr lang="en-US" sz="2600" dirty="0" err="1"/>
              <a:t>một</a:t>
            </a:r>
            <a:r>
              <a:rPr lang="en-US" sz="2600" dirty="0"/>
              <a:t> </a:t>
            </a:r>
            <a:r>
              <a:rPr lang="en-US" sz="2600" dirty="0" err="1"/>
              <a:t>khoảng</a:t>
            </a:r>
            <a:r>
              <a:rPr lang="en-US" sz="2600" dirty="0"/>
              <a:t> </a:t>
            </a:r>
            <a:r>
              <a:rPr lang="en-US" sz="2600" dirty="0" err="1"/>
              <a:t>thời</a:t>
            </a:r>
            <a:r>
              <a:rPr lang="en-US" sz="2600" dirty="0"/>
              <a:t> </a:t>
            </a:r>
            <a:r>
              <a:rPr lang="en-US" sz="2600" dirty="0" err="1"/>
              <a:t>gian</a:t>
            </a:r>
            <a:r>
              <a:rPr lang="vi-VN" sz="2600" dirty="0"/>
              <a:t> cập nhật và đồng bộ trạng thái game giữa Host và Client </a:t>
            </a:r>
            <a:endParaRPr lang="en-US" sz="2600" dirty="0"/>
          </a:p>
          <a:p>
            <a:pPr marL="457200" indent="-457200">
              <a:buFont typeface="Arial" panose="020B0604020202020204" pitchFamily="34" charset="0"/>
              <a:buChar char="•"/>
            </a:pPr>
            <a:r>
              <a:rPr lang="vi-VN" sz="2600" dirty="0"/>
              <a:t>🏃 </a:t>
            </a:r>
            <a:r>
              <a:rPr lang="vi-VN" sz="2600" b="1" dirty="0"/>
              <a:t>Runner</a:t>
            </a:r>
            <a:r>
              <a:rPr lang="en-US" sz="2600" b="1" dirty="0"/>
              <a:t>: </a:t>
            </a:r>
            <a:r>
              <a:rPr lang="en-US" sz="2600" dirty="0" err="1"/>
              <a:t>Là</a:t>
            </a:r>
            <a:r>
              <a:rPr lang="en-US" sz="2600" dirty="0"/>
              <a:t> đ</a:t>
            </a:r>
            <a:r>
              <a:rPr lang="vi-VN" sz="2600" dirty="0"/>
              <a:t>ối tượng</a:t>
            </a:r>
            <a:r>
              <a:rPr lang="en-US" sz="2600" dirty="0"/>
              <a:t> </a:t>
            </a:r>
            <a:r>
              <a:rPr lang="en-US" sz="2600" dirty="0" err="1"/>
              <a:t>quản</a:t>
            </a:r>
            <a:r>
              <a:rPr lang="en-US" sz="2600" dirty="0"/>
              <a:t> </a:t>
            </a:r>
            <a:r>
              <a:rPr lang="en-US" sz="2600" dirty="0" err="1"/>
              <a:t>lý</a:t>
            </a:r>
            <a:r>
              <a:rPr lang="en-US" sz="2600" dirty="0"/>
              <a:t> </a:t>
            </a:r>
            <a:r>
              <a:rPr lang="en-US" sz="2600" dirty="0" err="1"/>
              <a:t>các</a:t>
            </a:r>
            <a:r>
              <a:rPr lang="en-US" sz="2600" dirty="0"/>
              <a:t> Tick,</a:t>
            </a:r>
            <a:r>
              <a:rPr lang="vi-VN" sz="2600" dirty="0"/>
              <a:t> </a:t>
            </a:r>
            <a:r>
              <a:rPr lang="en-US" sz="2600" dirty="0" err="1"/>
              <a:t>chịu</a:t>
            </a:r>
            <a:r>
              <a:rPr lang="en-US" sz="2600" dirty="0"/>
              <a:t> </a:t>
            </a:r>
            <a:r>
              <a:rPr lang="en-US" sz="2600" dirty="0" err="1"/>
              <a:t>trách</a:t>
            </a:r>
            <a:r>
              <a:rPr lang="en-US" sz="2600" dirty="0"/>
              <a:t> </a:t>
            </a:r>
            <a:r>
              <a:rPr lang="en-US" sz="2600" dirty="0" err="1"/>
              <a:t>nhiệm</a:t>
            </a:r>
            <a:r>
              <a:rPr lang="en-US" sz="2600" dirty="0"/>
              <a:t> </a:t>
            </a:r>
            <a:r>
              <a:rPr lang="vi-VN" sz="2600" dirty="0"/>
              <a:t>điều phối toàn bộ quá trình đồng bộ mạng</a:t>
            </a:r>
            <a:r>
              <a:rPr lang="en-US" sz="2600" dirty="0"/>
              <a:t>.</a:t>
            </a:r>
          </a:p>
          <a:p>
            <a:pPr marL="457200" indent="-457200">
              <a:buFont typeface="Arial" panose="020B0604020202020204" pitchFamily="34" charset="0"/>
              <a:buChar char="•"/>
            </a:pPr>
            <a:r>
              <a:rPr lang="vi-VN" sz="2600" dirty="0"/>
              <a:t>⚙️ </a:t>
            </a:r>
            <a:r>
              <a:rPr lang="vi-VN" sz="2600" b="1" dirty="0"/>
              <a:t>Simulation</a:t>
            </a:r>
            <a:r>
              <a:rPr lang="en-US" sz="2600" b="1" dirty="0"/>
              <a:t>:</a:t>
            </a:r>
            <a:r>
              <a:rPr lang="vi-VN" sz="2600" dirty="0"/>
              <a:t> Cập nhật logic game theo từng tick, mô phỏng cập nhật </a:t>
            </a:r>
            <a:r>
              <a:rPr lang="en-US" sz="2600" dirty="0" err="1"/>
              <a:t>chính</a:t>
            </a:r>
            <a:r>
              <a:rPr lang="en-US" sz="2600" dirty="0"/>
              <a:t> </a:t>
            </a:r>
            <a:r>
              <a:rPr lang="en-US" sz="2600" dirty="0" err="1"/>
              <a:t>xác</a:t>
            </a:r>
            <a:r>
              <a:rPr lang="en-US" sz="2600" dirty="0"/>
              <a:t> </a:t>
            </a:r>
            <a:r>
              <a:rPr lang="vi-VN" sz="2600" dirty="0"/>
              <a:t>các logic của trò chơi dựa trên dữ liệu đã nhận được từ mạng</a:t>
            </a:r>
            <a:r>
              <a:rPr lang="en-US" sz="2600" dirty="0"/>
              <a:t>.</a:t>
            </a:r>
          </a:p>
          <a:p>
            <a:pPr marL="457200" indent="-457200">
              <a:buFont typeface="Arial" panose="020B0604020202020204" pitchFamily="34" charset="0"/>
              <a:buChar char="•"/>
            </a:pPr>
            <a:r>
              <a:rPr lang="vi-VN" sz="2600" dirty="0"/>
              <a:t>🎯 </a:t>
            </a:r>
            <a:r>
              <a:rPr lang="vi-VN" sz="2600" b="1" dirty="0"/>
              <a:t>Prediction</a:t>
            </a:r>
            <a:r>
              <a:rPr lang="en-US" sz="2600" b="1" dirty="0"/>
              <a:t>:</a:t>
            </a:r>
            <a:r>
              <a:rPr lang="vi-VN" sz="2600" dirty="0"/>
              <a:t> Client tự dự đoán kết quả hành động ngay lập tức, không chờ Host → giảm cảm giác lag khi điều khiển nhân vật</a:t>
            </a:r>
            <a:r>
              <a:rPr lang="en-US" sz="2600" dirty="0"/>
              <a:t>.</a:t>
            </a:r>
          </a:p>
          <a:p>
            <a:pPr marL="457200" indent="-457200">
              <a:buFont typeface="Arial" panose="020B0604020202020204" pitchFamily="34" charset="0"/>
              <a:buChar char="•"/>
            </a:pPr>
            <a:r>
              <a:rPr lang="vi-VN" sz="2600" dirty="0"/>
              <a:t>🎨 </a:t>
            </a:r>
            <a:r>
              <a:rPr lang="vi-VN" sz="2600" b="1" dirty="0"/>
              <a:t>Render</a:t>
            </a:r>
            <a:r>
              <a:rPr lang="en-US" sz="2600" b="1" dirty="0"/>
              <a:t>:</a:t>
            </a:r>
            <a:r>
              <a:rPr lang="vi-VN" sz="2600" dirty="0"/>
              <a:t> Chuyển trạng thái sau Simulation thành hình ảnh hiển thị mượt mà trên màn hình</a:t>
            </a:r>
            <a:r>
              <a:rPr lang="en-US" sz="2600" dirty="0"/>
              <a:t>.</a:t>
            </a:r>
          </a:p>
          <a:p>
            <a:pPr marL="457200" indent="-457200">
              <a:buFont typeface="Arial" panose="020B0604020202020204" pitchFamily="34" charset="0"/>
              <a:buChar char="•"/>
            </a:pPr>
            <a:r>
              <a:rPr lang="vi-VN" sz="2600" dirty="0"/>
              <a:t>📡 </a:t>
            </a:r>
            <a:r>
              <a:rPr lang="vi-VN" sz="2600" b="1" dirty="0"/>
              <a:t>RPC</a:t>
            </a:r>
            <a:r>
              <a:rPr lang="en-US" sz="2600" b="1" dirty="0"/>
              <a:t>: </a:t>
            </a:r>
            <a:r>
              <a:rPr lang="en-US" sz="2600" dirty="0"/>
              <a:t>L</a:t>
            </a:r>
            <a:r>
              <a:rPr lang="vi-VN" sz="2600" dirty="0"/>
              <a:t>à phương pháp gọi hàm từ </a:t>
            </a:r>
            <a:r>
              <a:rPr lang="en-US" sz="2600" dirty="0"/>
              <a:t>Client </a:t>
            </a:r>
            <a:r>
              <a:rPr lang="en-US" sz="2600" dirty="0" err="1"/>
              <a:t>tới</a:t>
            </a:r>
            <a:r>
              <a:rPr lang="en-US" sz="2600" dirty="0"/>
              <a:t> Server </a:t>
            </a:r>
            <a:r>
              <a:rPr lang="en-US" sz="2600" dirty="0" err="1"/>
              <a:t>hoặc</a:t>
            </a:r>
            <a:r>
              <a:rPr lang="en-US" sz="2600" dirty="0"/>
              <a:t> </a:t>
            </a:r>
            <a:r>
              <a:rPr lang="en-US" sz="2600" dirty="0" err="1"/>
              <a:t>ngược</a:t>
            </a:r>
            <a:r>
              <a:rPr lang="en-US" sz="2600" dirty="0"/>
              <a:t> </a:t>
            </a:r>
            <a:r>
              <a:rPr lang="en-US" sz="2600" dirty="0" err="1"/>
              <a:t>lại</a:t>
            </a:r>
            <a:r>
              <a:rPr lang="vi-VN" sz="2600" dirty="0"/>
              <a:t>. RPCs giúp thực hiện các hành động cụ thể như gửi thông báo, kích hoạt sự kiện, hoặc cập nhật trạng thái</a:t>
            </a:r>
            <a:r>
              <a:rPr lang="en-US" sz="2600" dirty="0"/>
              <a:t>.</a:t>
            </a:r>
          </a:p>
        </p:txBody>
      </p:sp>
      <p:sp>
        <p:nvSpPr>
          <p:cNvPr id="6" name="TextBox 6">
            <a:extLst>
              <a:ext uri="{FF2B5EF4-FFF2-40B4-BE49-F238E27FC236}">
                <a16:creationId xmlns:a16="http://schemas.microsoft.com/office/drawing/2014/main" id="{FBB05161-9F32-CC25-F80F-7F88A438A093}"/>
              </a:ext>
            </a:extLst>
          </p:cNvPr>
          <p:cNvSpPr txBox="1"/>
          <p:nvPr/>
        </p:nvSpPr>
        <p:spPr>
          <a:xfrm>
            <a:off x="1514799" y="478334"/>
            <a:ext cx="13533120" cy="641201"/>
          </a:xfrm>
          <a:prstGeom prst="rect">
            <a:avLst/>
          </a:prstGeom>
        </p:spPr>
        <p:txBody>
          <a:bodyPr lIns="0" tIns="0" rIns="0" bIns="0" rtlCol="0" anchor="t">
            <a:spAutoFit/>
          </a:bodyPr>
          <a:lstStyle/>
          <a:p>
            <a:pPr algn="ctr">
              <a:lnSpc>
                <a:spcPts val="5040"/>
              </a:lnSpc>
            </a:pPr>
            <a:r>
              <a:rPr lang="en-US" sz="4200" b="1" dirty="0">
                <a:solidFill>
                  <a:srgbClr val="FFFFFF"/>
                </a:solidFill>
                <a:latin typeface="Arial" panose="020B0604020202020204" pitchFamily="34" charset="0"/>
                <a:cs typeface="Arial" panose="020B0604020202020204" pitchFamily="34" charset="0"/>
              </a:rPr>
              <a:t>II. PHÂN TÍCH VÀ THIẾT KẾ</a:t>
            </a:r>
          </a:p>
        </p:txBody>
      </p:sp>
      <p:sp>
        <p:nvSpPr>
          <p:cNvPr id="8" name="TextBox 8">
            <a:extLst>
              <a:ext uri="{FF2B5EF4-FFF2-40B4-BE49-F238E27FC236}">
                <a16:creationId xmlns:a16="http://schemas.microsoft.com/office/drawing/2014/main" id="{2FC7DFB5-6778-89CC-76FF-27FF0C2A594F}"/>
              </a:ext>
            </a:extLst>
          </p:cNvPr>
          <p:cNvSpPr txBox="1"/>
          <p:nvPr/>
        </p:nvSpPr>
        <p:spPr>
          <a:xfrm>
            <a:off x="13197840" y="9546433"/>
            <a:ext cx="4084320" cy="410369"/>
          </a:xfrm>
          <a:prstGeom prst="rect">
            <a:avLst/>
          </a:prstGeom>
        </p:spPr>
        <p:txBody>
          <a:bodyPr lIns="0" tIns="0" rIns="0" bIns="0" rtlCol="0" anchor="t">
            <a:spAutoFit/>
          </a:bodyPr>
          <a:lstStyle/>
          <a:p>
            <a:pPr algn="r">
              <a:lnSpc>
                <a:spcPts val="3240"/>
              </a:lnSpc>
            </a:pPr>
            <a:r>
              <a:rPr lang="en-US" sz="2700" dirty="0">
                <a:solidFill>
                  <a:srgbClr val="0000FF"/>
                </a:solidFill>
                <a:latin typeface="Times New Roman" panose="02020603050405020304" pitchFamily="18" charset="0"/>
              </a:rPr>
              <a:t>7</a:t>
            </a:r>
          </a:p>
        </p:txBody>
      </p:sp>
      <p:sp>
        <p:nvSpPr>
          <p:cNvPr id="4" name="TextBox 3">
            <a:extLst>
              <a:ext uri="{FF2B5EF4-FFF2-40B4-BE49-F238E27FC236}">
                <a16:creationId xmlns:a16="http://schemas.microsoft.com/office/drawing/2014/main" id="{BAAD37CB-7302-43EA-80B1-3BEEF3165C84}"/>
              </a:ext>
            </a:extLst>
          </p:cNvPr>
          <p:cNvSpPr txBox="1"/>
          <p:nvPr/>
        </p:nvSpPr>
        <p:spPr>
          <a:xfrm>
            <a:off x="685799" y="7025265"/>
            <a:ext cx="16916400" cy="1938992"/>
          </a:xfrm>
          <a:prstGeom prst="rect">
            <a:avLst/>
          </a:prstGeom>
          <a:noFill/>
        </p:spPr>
        <p:txBody>
          <a:bodyPr wrap="square" rtlCol="0">
            <a:spAutoFit/>
          </a:bodyPr>
          <a:lstStyle/>
          <a:p>
            <a:r>
              <a:rPr lang="en-US" sz="3000" dirty="0"/>
              <a:t>=&gt; </a:t>
            </a:r>
            <a:r>
              <a:rPr lang="vi-VN" sz="3000" dirty="0"/>
              <a:t>Sáu khái niệm trên phối hợp chặt chẽ với nhau theo vòng lặp: </a:t>
            </a:r>
            <a:r>
              <a:rPr lang="vi-VN" sz="3000" b="1" dirty="0"/>
              <a:t>Tick → Simulation → Prediction → Render</a:t>
            </a:r>
            <a:r>
              <a:rPr lang="vi-VN" sz="3000" dirty="0"/>
              <a:t>, trong đó </a:t>
            </a:r>
            <a:r>
              <a:rPr lang="vi-VN" sz="3000" b="1" dirty="0"/>
              <a:t>Runner</a:t>
            </a:r>
            <a:r>
              <a:rPr lang="vi-VN" sz="3000" dirty="0"/>
              <a:t> điều phối toàn bộ quá trình và </a:t>
            </a:r>
            <a:r>
              <a:rPr lang="vi-VN" sz="3000" b="1" dirty="0"/>
              <a:t>RPC</a:t>
            </a:r>
            <a:r>
              <a:rPr lang="vi-VN" sz="3000" dirty="0"/>
              <a:t> xử lý các sự kiện tức thời — tạo nền tảng để đề tài xây dựng trải nghiệm multiplayer mượt mà và nhất quán giữa các người chơi."</a:t>
            </a:r>
          </a:p>
          <a:p>
            <a:endParaRPr lang="vi-VN" sz="3000" dirty="0"/>
          </a:p>
        </p:txBody>
      </p:sp>
    </p:spTree>
    <p:extLst>
      <p:ext uri="{BB962C8B-B14F-4D97-AF65-F5344CB8AC3E}">
        <p14:creationId xmlns:p14="http://schemas.microsoft.com/office/powerpoint/2010/main" val="234638449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8CC76-503B-7B2D-F51B-7F0F3E66568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B9118AA-7B19-4D1E-A451-AE9D251F53E9}"/>
              </a:ext>
            </a:extLst>
          </p:cNvPr>
          <p:cNvSpPr/>
          <p:nvPr/>
        </p:nvSpPr>
        <p:spPr>
          <a:xfrm>
            <a:off x="-20782"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5" name="TextBox 5">
            <a:extLst>
              <a:ext uri="{FF2B5EF4-FFF2-40B4-BE49-F238E27FC236}">
                <a16:creationId xmlns:a16="http://schemas.microsoft.com/office/drawing/2014/main" id="{5E2B5AF6-1093-8952-A940-BBAC59EDD46E}"/>
              </a:ext>
            </a:extLst>
          </p:cNvPr>
          <p:cNvSpPr txBox="1"/>
          <p:nvPr/>
        </p:nvSpPr>
        <p:spPr>
          <a:xfrm>
            <a:off x="1349825" y="1758353"/>
            <a:ext cx="15588349" cy="3046988"/>
          </a:xfrm>
          <a:prstGeom prst="rect">
            <a:avLst/>
          </a:prstGeom>
        </p:spPr>
        <p:txBody>
          <a:bodyPr lIns="0" tIns="0" rIns="0" bIns="0" rtlCol="0" anchor="t">
            <a:spAutoFit/>
          </a:bodyPr>
          <a:lstStyle/>
          <a:p>
            <a:r>
              <a:rPr lang="en-US" sz="4000" b="1" dirty="0"/>
              <a:t>Observer Pattern:</a:t>
            </a:r>
          </a:p>
          <a:p>
            <a:pPr marL="457200" indent="-457200">
              <a:buFont typeface="Arial" panose="020B0604020202020204" pitchFamily="34" charset="0"/>
              <a:buChar char="•"/>
            </a:pPr>
            <a:r>
              <a:rPr lang="en-US" sz="2600" dirty="0" err="1"/>
              <a:t>Là</a:t>
            </a:r>
            <a:r>
              <a:rPr lang="en-US" sz="2600" dirty="0"/>
              <a:t> </a:t>
            </a:r>
            <a:r>
              <a:rPr lang="vi-VN" sz="2600" dirty="0"/>
              <a:t>một </a:t>
            </a:r>
            <a:r>
              <a:rPr lang="en-US" sz="2600" dirty="0"/>
              <a:t>M</a:t>
            </a:r>
            <a:r>
              <a:rPr lang="vi-VN" sz="2600" dirty="0"/>
              <a:t>ẫu thiết kế hành vi, cho phép một đối tượng tự động thông báo cho nhiều đối tượng khác khi trạng thái của nó thay đổi.</a:t>
            </a:r>
          </a:p>
          <a:p>
            <a:pPr marL="457200" indent="-457200">
              <a:buFont typeface="Arial" panose="020B0604020202020204" pitchFamily="34" charset="0"/>
              <a:buChar char="•"/>
            </a:pPr>
            <a:r>
              <a:rPr lang="vi-VN" sz="2600" dirty="0"/>
              <a:t>Mục đích chính là giảm sự phụ thuộc giữa đối tượng phát sự kiện và các đối tượng nhận sự kiện.</a:t>
            </a:r>
            <a:endParaRPr lang="en-US" sz="2600" dirty="0"/>
          </a:p>
          <a:p>
            <a:pPr marL="457200" indent="-457200">
              <a:buFont typeface="Arial" panose="020B0604020202020204" pitchFamily="34" charset="0"/>
              <a:buChar char="•"/>
            </a:pPr>
            <a:r>
              <a:rPr lang="vi-VN" sz="2600" b="1" dirty="0"/>
              <a:t>Subject (Publisher)</a:t>
            </a:r>
            <a:r>
              <a:rPr lang="en-US" sz="2600" b="1" dirty="0"/>
              <a:t>: </a:t>
            </a:r>
            <a:r>
              <a:rPr lang="vi-VN" sz="2600" dirty="0"/>
              <a:t>Là đối tượng quản lý danh sách Observer.</a:t>
            </a:r>
            <a:r>
              <a:rPr lang="en-US" sz="2600" dirty="0"/>
              <a:t> </a:t>
            </a:r>
            <a:r>
              <a:rPr lang="vi-VN" sz="2600" dirty="0"/>
              <a:t>Có các chức năng:</a:t>
            </a:r>
            <a:r>
              <a:rPr lang="en-US" sz="2600" dirty="0"/>
              <a:t> </a:t>
            </a:r>
            <a:r>
              <a:rPr lang="vi-VN" sz="2600" dirty="0"/>
              <a:t>Thêm Observer</a:t>
            </a:r>
            <a:r>
              <a:rPr lang="en-US" sz="2600" dirty="0"/>
              <a:t>, </a:t>
            </a:r>
            <a:r>
              <a:rPr lang="vi-VN" sz="2600" dirty="0"/>
              <a:t>Xóa Observer</a:t>
            </a:r>
            <a:r>
              <a:rPr lang="en-US" sz="2600" dirty="0"/>
              <a:t>, </a:t>
            </a:r>
            <a:r>
              <a:rPr lang="vi-VN" sz="2600" dirty="0"/>
              <a:t>Gửi thông báo khi dữ liệu thay đổi</a:t>
            </a:r>
          </a:p>
          <a:p>
            <a:pPr marL="457200" indent="-457200">
              <a:buFont typeface="Arial" panose="020B0604020202020204" pitchFamily="34" charset="0"/>
              <a:buChar char="•"/>
            </a:pPr>
            <a:r>
              <a:rPr lang="vi-VN" sz="2800" b="1" dirty="0"/>
              <a:t>Observer</a:t>
            </a:r>
            <a:r>
              <a:rPr lang="en-US" sz="2800" b="1" dirty="0"/>
              <a:t>: </a:t>
            </a:r>
            <a:r>
              <a:rPr lang="vi-VN" sz="2800" dirty="0"/>
              <a:t>Là các đối tượng muốn biết khi Subject thay đổi.</a:t>
            </a:r>
          </a:p>
        </p:txBody>
      </p:sp>
      <p:sp>
        <p:nvSpPr>
          <p:cNvPr id="6" name="TextBox 6">
            <a:extLst>
              <a:ext uri="{FF2B5EF4-FFF2-40B4-BE49-F238E27FC236}">
                <a16:creationId xmlns:a16="http://schemas.microsoft.com/office/drawing/2014/main" id="{F02D7748-3B45-0291-A68A-BD0C19C13050}"/>
              </a:ext>
            </a:extLst>
          </p:cNvPr>
          <p:cNvSpPr txBox="1"/>
          <p:nvPr/>
        </p:nvSpPr>
        <p:spPr>
          <a:xfrm>
            <a:off x="1514799" y="478334"/>
            <a:ext cx="13533120" cy="641201"/>
          </a:xfrm>
          <a:prstGeom prst="rect">
            <a:avLst/>
          </a:prstGeom>
        </p:spPr>
        <p:txBody>
          <a:bodyPr lIns="0" tIns="0" rIns="0" bIns="0" rtlCol="0" anchor="t">
            <a:spAutoFit/>
          </a:bodyPr>
          <a:lstStyle/>
          <a:p>
            <a:pPr algn="ctr">
              <a:lnSpc>
                <a:spcPts val="5040"/>
              </a:lnSpc>
            </a:pPr>
            <a:r>
              <a:rPr lang="en-US" sz="4200" b="1" dirty="0">
                <a:solidFill>
                  <a:srgbClr val="FFFFFF"/>
                </a:solidFill>
                <a:latin typeface="Arial" panose="020B0604020202020204" pitchFamily="34" charset="0"/>
                <a:cs typeface="Arial" panose="020B0604020202020204" pitchFamily="34" charset="0"/>
              </a:rPr>
              <a:t>II. PHÂN TÍCH VÀ THIẾT KẾ</a:t>
            </a:r>
          </a:p>
        </p:txBody>
      </p:sp>
      <p:sp>
        <p:nvSpPr>
          <p:cNvPr id="8" name="TextBox 8">
            <a:extLst>
              <a:ext uri="{FF2B5EF4-FFF2-40B4-BE49-F238E27FC236}">
                <a16:creationId xmlns:a16="http://schemas.microsoft.com/office/drawing/2014/main" id="{F9DC1FBE-B60D-286E-A82D-B0D9889DB412}"/>
              </a:ext>
            </a:extLst>
          </p:cNvPr>
          <p:cNvSpPr txBox="1"/>
          <p:nvPr/>
        </p:nvSpPr>
        <p:spPr>
          <a:xfrm>
            <a:off x="13197840" y="9546433"/>
            <a:ext cx="4084320" cy="410369"/>
          </a:xfrm>
          <a:prstGeom prst="rect">
            <a:avLst/>
          </a:prstGeom>
        </p:spPr>
        <p:txBody>
          <a:bodyPr lIns="0" tIns="0" rIns="0" bIns="0" rtlCol="0" anchor="t">
            <a:spAutoFit/>
          </a:bodyPr>
          <a:lstStyle/>
          <a:p>
            <a:pPr algn="r">
              <a:lnSpc>
                <a:spcPts val="3240"/>
              </a:lnSpc>
            </a:pPr>
            <a:r>
              <a:rPr lang="en-US" sz="2700" dirty="0">
                <a:solidFill>
                  <a:srgbClr val="0000FF"/>
                </a:solidFill>
                <a:latin typeface="Times New Roman" panose="02020603050405020304" pitchFamily="18" charset="0"/>
              </a:rPr>
              <a:t>8</a:t>
            </a:r>
          </a:p>
        </p:txBody>
      </p:sp>
      <p:sp>
        <p:nvSpPr>
          <p:cNvPr id="7" name="TextBox 6">
            <a:extLst>
              <a:ext uri="{FF2B5EF4-FFF2-40B4-BE49-F238E27FC236}">
                <a16:creationId xmlns:a16="http://schemas.microsoft.com/office/drawing/2014/main" id="{320546AB-C60F-596A-9D76-3FC59C32B92C}"/>
              </a:ext>
            </a:extLst>
          </p:cNvPr>
          <p:cNvSpPr txBox="1"/>
          <p:nvPr/>
        </p:nvSpPr>
        <p:spPr>
          <a:xfrm>
            <a:off x="588818" y="5372100"/>
            <a:ext cx="17068800" cy="1938992"/>
          </a:xfrm>
          <a:prstGeom prst="rect">
            <a:avLst/>
          </a:prstGeom>
          <a:noFill/>
        </p:spPr>
        <p:txBody>
          <a:bodyPr wrap="square" rtlCol="0">
            <a:spAutoFit/>
          </a:bodyPr>
          <a:lstStyle/>
          <a:p>
            <a:r>
              <a:rPr lang="en-US" sz="3000" dirty="0"/>
              <a:t>=&gt; </a:t>
            </a:r>
            <a:r>
              <a:rPr lang="vi-VN" sz="3000" dirty="0"/>
              <a:t>Trong phát triển game, Observer Pattern được sử dụng để xây dựng các hệ thống hướng sự kiện, giúp các thành phần tự động cập nhật khi trạng thái của đối tượng thay đổi. Mẫu thiết kế này giúp giảm sự phụ thuộc giữa các thành phần, tăng khả năng mở rộng và đơn giản hóa việc bảo trì hệ thống.</a:t>
            </a:r>
          </a:p>
          <a:p>
            <a:endParaRPr lang="vi-VN" sz="3000" dirty="0"/>
          </a:p>
        </p:txBody>
      </p:sp>
    </p:spTree>
    <p:extLst>
      <p:ext uri="{BB962C8B-B14F-4D97-AF65-F5344CB8AC3E}">
        <p14:creationId xmlns:p14="http://schemas.microsoft.com/office/powerpoint/2010/main" val="106407368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98E72-6FF3-4498-CC9D-4EF847DF4B0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B9EAE94-0285-12FB-6504-6D8DAA9F61C3}"/>
              </a:ext>
            </a:extLst>
          </p:cNvPr>
          <p:cNvSpPr/>
          <p:nvPr/>
        </p:nvSpPr>
        <p:spPr>
          <a:xfrm>
            <a:off x="-20782"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5" name="TextBox 5">
            <a:extLst>
              <a:ext uri="{FF2B5EF4-FFF2-40B4-BE49-F238E27FC236}">
                <a16:creationId xmlns:a16="http://schemas.microsoft.com/office/drawing/2014/main" id="{F1924DAC-BE5D-6C1D-733D-55AEFA447F15}"/>
              </a:ext>
            </a:extLst>
          </p:cNvPr>
          <p:cNvSpPr txBox="1"/>
          <p:nvPr/>
        </p:nvSpPr>
        <p:spPr>
          <a:xfrm>
            <a:off x="1349825" y="1758353"/>
            <a:ext cx="15588349" cy="3046988"/>
          </a:xfrm>
          <a:prstGeom prst="rect">
            <a:avLst/>
          </a:prstGeom>
        </p:spPr>
        <p:txBody>
          <a:bodyPr lIns="0" tIns="0" rIns="0" bIns="0" rtlCol="0" anchor="t">
            <a:spAutoFit/>
          </a:bodyPr>
          <a:lstStyle/>
          <a:p>
            <a:r>
              <a:rPr lang="en-US" sz="4000" b="1" dirty="0"/>
              <a:t>Observer Pattern:</a:t>
            </a:r>
          </a:p>
          <a:p>
            <a:pPr marL="457200" indent="-457200">
              <a:buFont typeface="Arial" panose="020B0604020202020204" pitchFamily="34" charset="0"/>
              <a:buChar char="•"/>
            </a:pPr>
            <a:r>
              <a:rPr lang="en-US" sz="2600" dirty="0" err="1"/>
              <a:t>Là</a:t>
            </a:r>
            <a:r>
              <a:rPr lang="en-US" sz="2600" dirty="0"/>
              <a:t> </a:t>
            </a:r>
            <a:r>
              <a:rPr lang="vi-VN" sz="2600" dirty="0"/>
              <a:t>một </a:t>
            </a:r>
            <a:r>
              <a:rPr lang="en-US" sz="2600" dirty="0"/>
              <a:t>M</a:t>
            </a:r>
            <a:r>
              <a:rPr lang="vi-VN" sz="2600" dirty="0"/>
              <a:t>ẫu thiết kế hành vi, cho phép một đối tượng tự động thông báo cho nhiều đối tượng khác khi trạng thái của nó thay đổi.</a:t>
            </a:r>
          </a:p>
          <a:p>
            <a:pPr marL="457200" indent="-457200">
              <a:buFont typeface="Arial" panose="020B0604020202020204" pitchFamily="34" charset="0"/>
              <a:buChar char="•"/>
            </a:pPr>
            <a:r>
              <a:rPr lang="vi-VN" sz="2600" dirty="0"/>
              <a:t>Mục đích chính là giảm sự phụ thuộc giữa đối tượng phát sự kiện và các đối tượng nhận sự kiện.</a:t>
            </a:r>
            <a:endParaRPr lang="en-US" sz="2600" dirty="0"/>
          </a:p>
          <a:p>
            <a:pPr marL="457200" indent="-457200">
              <a:buFont typeface="Arial" panose="020B0604020202020204" pitchFamily="34" charset="0"/>
              <a:buChar char="•"/>
            </a:pPr>
            <a:r>
              <a:rPr lang="vi-VN" sz="2600" b="1" dirty="0"/>
              <a:t>Subject (Publisher)</a:t>
            </a:r>
            <a:r>
              <a:rPr lang="en-US" sz="2600" b="1" dirty="0"/>
              <a:t>: </a:t>
            </a:r>
            <a:r>
              <a:rPr lang="vi-VN" sz="2600" dirty="0"/>
              <a:t>Là đối tượng quản lý danh sách Observer.</a:t>
            </a:r>
            <a:r>
              <a:rPr lang="en-US" sz="2600" dirty="0"/>
              <a:t> </a:t>
            </a:r>
            <a:r>
              <a:rPr lang="vi-VN" sz="2600" dirty="0"/>
              <a:t>Có các chức năng:</a:t>
            </a:r>
            <a:r>
              <a:rPr lang="en-US" sz="2600" dirty="0"/>
              <a:t> </a:t>
            </a:r>
            <a:r>
              <a:rPr lang="vi-VN" sz="2600" dirty="0"/>
              <a:t>Thêm Observer</a:t>
            </a:r>
            <a:r>
              <a:rPr lang="en-US" sz="2600" dirty="0"/>
              <a:t>, </a:t>
            </a:r>
            <a:r>
              <a:rPr lang="vi-VN" sz="2600" dirty="0"/>
              <a:t>Xóa Observer</a:t>
            </a:r>
            <a:r>
              <a:rPr lang="en-US" sz="2600" dirty="0"/>
              <a:t>, </a:t>
            </a:r>
            <a:r>
              <a:rPr lang="vi-VN" sz="2600" dirty="0"/>
              <a:t>Gửi thông báo khi dữ liệu thay đổi</a:t>
            </a:r>
          </a:p>
          <a:p>
            <a:pPr marL="457200" indent="-457200">
              <a:buFont typeface="Arial" panose="020B0604020202020204" pitchFamily="34" charset="0"/>
              <a:buChar char="•"/>
            </a:pPr>
            <a:r>
              <a:rPr lang="vi-VN" sz="2800" b="1" dirty="0"/>
              <a:t>Observer</a:t>
            </a:r>
            <a:r>
              <a:rPr lang="en-US" sz="2800" b="1" dirty="0"/>
              <a:t>: </a:t>
            </a:r>
            <a:r>
              <a:rPr lang="vi-VN" sz="2800" dirty="0"/>
              <a:t>Là các đối tượng muốn biết khi Subject thay đổi.</a:t>
            </a:r>
          </a:p>
        </p:txBody>
      </p:sp>
      <p:sp>
        <p:nvSpPr>
          <p:cNvPr id="6" name="TextBox 6">
            <a:extLst>
              <a:ext uri="{FF2B5EF4-FFF2-40B4-BE49-F238E27FC236}">
                <a16:creationId xmlns:a16="http://schemas.microsoft.com/office/drawing/2014/main" id="{823ADAC6-BD0A-2590-DB8B-0494FCA767BE}"/>
              </a:ext>
            </a:extLst>
          </p:cNvPr>
          <p:cNvSpPr txBox="1"/>
          <p:nvPr/>
        </p:nvSpPr>
        <p:spPr>
          <a:xfrm>
            <a:off x="1514799" y="478334"/>
            <a:ext cx="13533120" cy="641201"/>
          </a:xfrm>
          <a:prstGeom prst="rect">
            <a:avLst/>
          </a:prstGeom>
        </p:spPr>
        <p:txBody>
          <a:bodyPr lIns="0" tIns="0" rIns="0" bIns="0" rtlCol="0" anchor="t">
            <a:spAutoFit/>
          </a:bodyPr>
          <a:lstStyle/>
          <a:p>
            <a:pPr algn="ctr">
              <a:lnSpc>
                <a:spcPts val="5040"/>
              </a:lnSpc>
            </a:pPr>
            <a:r>
              <a:rPr lang="en-US" sz="4200" b="1" dirty="0">
                <a:solidFill>
                  <a:srgbClr val="FFFFFF"/>
                </a:solidFill>
                <a:latin typeface="Arial" panose="020B0604020202020204" pitchFamily="34" charset="0"/>
                <a:cs typeface="Arial" panose="020B0604020202020204" pitchFamily="34" charset="0"/>
              </a:rPr>
              <a:t>II. PHÂN TÍCH VÀ THIẾT KẾ</a:t>
            </a:r>
          </a:p>
        </p:txBody>
      </p:sp>
      <p:sp>
        <p:nvSpPr>
          <p:cNvPr id="8" name="TextBox 8">
            <a:extLst>
              <a:ext uri="{FF2B5EF4-FFF2-40B4-BE49-F238E27FC236}">
                <a16:creationId xmlns:a16="http://schemas.microsoft.com/office/drawing/2014/main" id="{C96E567D-9598-DAF5-2EA8-3DB16E08A967}"/>
              </a:ext>
            </a:extLst>
          </p:cNvPr>
          <p:cNvSpPr txBox="1"/>
          <p:nvPr/>
        </p:nvSpPr>
        <p:spPr>
          <a:xfrm>
            <a:off x="13197840" y="9546433"/>
            <a:ext cx="4084320" cy="410369"/>
          </a:xfrm>
          <a:prstGeom prst="rect">
            <a:avLst/>
          </a:prstGeom>
        </p:spPr>
        <p:txBody>
          <a:bodyPr lIns="0" tIns="0" rIns="0" bIns="0" rtlCol="0" anchor="t">
            <a:spAutoFit/>
          </a:bodyPr>
          <a:lstStyle/>
          <a:p>
            <a:pPr algn="r">
              <a:lnSpc>
                <a:spcPts val="3240"/>
              </a:lnSpc>
            </a:pPr>
            <a:r>
              <a:rPr lang="en-US" sz="2700" dirty="0">
                <a:solidFill>
                  <a:srgbClr val="0000FF"/>
                </a:solidFill>
                <a:latin typeface="Times New Roman" panose="02020603050405020304" pitchFamily="18" charset="0"/>
              </a:rPr>
              <a:t>9</a:t>
            </a:r>
          </a:p>
        </p:txBody>
      </p:sp>
      <p:sp>
        <p:nvSpPr>
          <p:cNvPr id="7" name="TextBox 6">
            <a:extLst>
              <a:ext uri="{FF2B5EF4-FFF2-40B4-BE49-F238E27FC236}">
                <a16:creationId xmlns:a16="http://schemas.microsoft.com/office/drawing/2014/main" id="{CC1B2156-7870-25F4-A4E2-A8B8B44492FA}"/>
              </a:ext>
            </a:extLst>
          </p:cNvPr>
          <p:cNvSpPr txBox="1"/>
          <p:nvPr/>
        </p:nvSpPr>
        <p:spPr>
          <a:xfrm>
            <a:off x="588818" y="5372100"/>
            <a:ext cx="17068800" cy="1969770"/>
          </a:xfrm>
          <a:prstGeom prst="rect">
            <a:avLst/>
          </a:prstGeom>
          <a:noFill/>
        </p:spPr>
        <p:txBody>
          <a:bodyPr wrap="square" rtlCol="0">
            <a:spAutoFit/>
          </a:bodyPr>
          <a:lstStyle/>
          <a:p>
            <a:r>
              <a:rPr lang="vi-VN" sz="2800" dirty="0"/>
              <a:t>⇨</a:t>
            </a:r>
            <a:r>
              <a:rPr lang="en-US" sz="3000" dirty="0"/>
              <a:t> </a:t>
            </a:r>
            <a:r>
              <a:rPr lang="vi-VN" sz="3000" dirty="0"/>
              <a:t>Trong phát triển game, Observer Pattern được sử dụng để xây dựng các hệ thống hướng sự kiện, giúp các thành phần tự động cập nhật khi trạng thái của đối tượng thay đổi. Mẫu thiết kế này giúp giảm sự phụ thuộc giữa các thành phần, tăng khả năng mở rộng và đơn giản hóa việc bảo trì hệ thống.</a:t>
            </a:r>
          </a:p>
          <a:p>
            <a:endParaRPr lang="vi-VN" sz="3000" dirty="0"/>
          </a:p>
        </p:txBody>
      </p:sp>
    </p:spTree>
    <p:extLst>
      <p:ext uri="{BB962C8B-B14F-4D97-AF65-F5344CB8AC3E}">
        <p14:creationId xmlns:p14="http://schemas.microsoft.com/office/powerpoint/2010/main" val="320559924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34EBB-3969-8288-E84E-DE61C41E929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744D1AD-745E-0983-DD35-B5DBFC2E27AF}"/>
              </a:ext>
            </a:extLst>
          </p:cNvPr>
          <p:cNvSpPr/>
          <p:nvPr/>
        </p:nvSpPr>
        <p:spPr>
          <a:xfrm>
            <a:off x="-20782"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5" name="TextBox 5">
            <a:extLst>
              <a:ext uri="{FF2B5EF4-FFF2-40B4-BE49-F238E27FC236}">
                <a16:creationId xmlns:a16="http://schemas.microsoft.com/office/drawing/2014/main" id="{9CCE87CF-296E-5DFF-EAE2-BF1325A224D4}"/>
              </a:ext>
            </a:extLst>
          </p:cNvPr>
          <p:cNvSpPr txBox="1"/>
          <p:nvPr/>
        </p:nvSpPr>
        <p:spPr>
          <a:xfrm>
            <a:off x="1349825" y="2085326"/>
            <a:ext cx="15588349" cy="1508105"/>
          </a:xfrm>
          <a:prstGeom prst="rect">
            <a:avLst/>
          </a:prstGeom>
        </p:spPr>
        <p:txBody>
          <a:bodyPr lIns="0" tIns="0" rIns="0" bIns="0" rtlCol="0" anchor="t">
            <a:spAutoFit/>
          </a:bodyPr>
          <a:lstStyle/>
          <a:p>
            <a:r>
              <a:rPr lang="en-US" sz="4000" b="1" dirty="0"/>
              <a:t>Singleton Pattern:</a:t>
            </a:r>
          </a:p>
          <a:p>
            <a:pPr marL="457200" indent="-457200">
              <a:buFont typeface="Arial" panose="020B0604020202020204" pitchFamily="34" charset="0"/>
              <a:buChar char="•"/>
            </a:pPr>
            <a:r>
              <a:rPr lang="vi-VN" sz="2800" dirty="0"/>
              <a:t>Đảm bảo một lớp chỉ có duy nhất một thực thể tồn tại trong suốt vòng đời ứng dụng </a:t>
            </a:r>
            <a:endParaRPr lang="en-US" sz="2800" dirty="0"/>
          </a:p>
          <a:p>
            <a:pPr marL="457200" indent="-457200">
              <a:buFont typeface="Arial" panose="020B0604020202020204" pitchFamily="34" charset="0"/>
              <a:buChar char="•"/>
            </a:pPr>
            <a:r>
              <a:rPr lang="vi-VN" sz="2800" dirty="0"/>
              <a:t>Cung cấp một điểm truy cập toàn cục đến thực thể đó thông qua thuộc tính </a:t>
            </a:r>
            <a:r>
              <a:rPr lang="vi-VN" sz="2800" b="1" dirty="0"/>
              <a:t>Instance</a:t>
            </a:r>
          </a:p>
        </p:txBody>
      </p:sp>
      <p:sp>
        <p:nvSpPr>
          <p:cNvPr id="6" name="TextBox 6">
            <a:extLst>
              <a:ext uri="{FF2B5EF4-FFF2-40B4-BE49-F238E27FC236}">
                <a16:creationId xmlns:a16="http://schemas.microsoft.com/office/drawing/2014/main" id="{6BADA566-B880-84E0-C4D8-6887D6964226}"/>
              </a:ext>
            </a:extLst>
          </p:cNvPr>
          <p:cNvSpPr txBox="1"/>
          <p:nvPr/>
        </p:nvSpPr>
        <p:spPr>
          <a:xfrm>
            <a:off x="1514799" y="478334"/>
            <a:ext cx="13533120" cy="641201"/>
          </a:xfrm>
          <a:prstGeom prst="rect">
            <a:avLst/>
          </a:prstGeom>
        </p:spPr>
        <p:txBody>
          <a:bodyPr lIns="0" tIns="0" rIns="0" bIns="0" rtlCol="0" anchor="t">
            <a:spAutoFit/>
          </a:bodyPr>
          <a:lstStyle/>
          <a:p>
            <a:pPr algn="ctr">
              <a:lnSpc>
                <a:spcPts val="5040"/>
              </a:lnSpc>
            </a:pPr>
            <a:r>
              <a:rPr lang="en-US" sz="4200" b="1" dirty="0">
                <a:solidFill>
                  <a:srgbClr val="FFFFFF"/>
                </a:solidFill>
                <a:latin typeface="Arial" panose="020B0604020202020204" pitchFamily="34" charset="0"/>
                <a:cs typeface="Arial" panose="020B0604020202020204" pitchFamily="34" charset="0"/>
              </a:rPr>
              <a:t>II. PHÂN TÍCH VÀ THIẾT KẾ</a:t>
            </a:r>
          </a:p>
        </p:txBody>
      </p:sp>
      <p:sp>
        <p:nvSpPr>
          <p:cNvPr id="8" name="TextBox 8">
            <a:extLst>
              <a:ext uri="{FF2B5EF4-FFF2-40B4-BE49-F238E27FC236}">
                <a16:creationId xmlns:a16="http://schemas.microsoft.com/office/drawing/2014/main" id="{81E67D71-AA18-CCAE-3CCB-D39FB3389F01}"/>
              </a:ext>
            </a:extLst>
          </p:cNvPr>
          <p:cNvSpPr txBox="1"/>
          <p:nvPr/>
        </p:nvSpPr>
        <p:spPr>
          <a:xfrm>
            <a:off x="13197840" y="9546433"/>
            <a:ext cx="4084320" cy="410369"/>
          </a:xfrm>
          <a:prstGeom prst="rect">
            <a:avLst/>
          </a:prstGeom>
        </p:spPr>
        <p:txBody>
          <a:bodyPr lIns="0" tIns="0" rIns="0" bIns="0" rtlCol="0" anchor="t">
            <a:spAutoFit/>
          </a:bodyPr>
          <a:lstStyle/>
          <a:p>
            <a:pPr algn="r">
              <a:lnSpc>
                <a:spcPts val="3240"/>
              </a:lnSpc>
            </a:pPr>
            <a:r>
              <a:rPr lang="en-US" sz="2700" dirty="0">
                <a:solidFill>
                  <a:srgbClr val="0000FF"/>
                </a:solidFill>
                <a:latin typeface="Times New Roman" panose="02020603050405020304" pitchFamily="18" charset="0"/>
              </a:rPr>
              <a:t>10</a:t>
            </a:r>
          </a:p>
        </p:txBody>
      </p:sp>
      <p:sp>
        <p:nvSpPr>
          <p:cNvPr id="7" name="TextBox 6">
            <a:extLst>
              <a:ext uri="{FF2B5EF4-FFF2-40B4-BE49-F238E27FC236}">
                <a16:creationId xmlns:a16="http://schemas.microsoft.com/office/drawing/2014/main" id="{4564E0C9-D157-6FDD-FD47-8FA3E32088F6}"/>
              </a:ext>
            </a:extLst>
          </p:cNvPr>
          <p:cNvSpPr txBox="1"/>
          <p:nvPr/>
        </p:nvSpPr>
        <p:spPr>
          <a:xfrm>
            <a:off x="762000" y="3923629"/>
            <a:ext cx="17068800" cy="1077218"/>
          </a:xfrm>
          <a:prstGeom prst="rect">
            <a:avLst/>
          </a:prstGeom>
          <a:noFill/>
        </p:spPr>
        <p:txBody>
          <a:bodyPr wrap="square" rtlCol="0">
            <a:spAutoFit/>
          </a:bodyPr>
          <a:lstStyle/>
          <a:p>
            <a:r>
              <a:rPr lang="vi-VN" sz="3200" dirty="0"/>
              <a:t>⇨ Singleton đảm bảo "một điểm truy cập duy nhất", Observer đảm bảo "giao tiếp gián tiếp giữa module" — hai pattern bổ trợ nhau để tạo ra hệ thống event-driven xuyên suốt toàn bộ game.</a:t>
            </a:r>
            <a:endParaRPr lang="vi-VN" sz="3000" dirty="0"/>
          </a:p>
        </p:txBody>
      </p:sp>
    </p:spTree>
    <p:extLst>
      <p:ext uri="{BB962C8B-B14F-4D97-AF65-F5344CB8AC3E}">
        <p14:creationId xmlns:p14="http://schemas.microsoft.com/office/powerpoint/2010/main" val="398136547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B5132-3A0D-2F0C-F9B6-9135B80ACA5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C4CBC54-730F-7008-3FEC-ABBE410A24AC}"/>
              </a:ext>
            </a:extLst>
          </p:cNvPr>
          <p:cNvSpPr/>
          <p:nvPr/>
        </p:nvSpPr>
        <p:spPr>
          <a:xfrm>
            <a:off x="-20782"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5" name="TextBox 5">
            <a:extLst>
              <a:ext uri="{FF2B5EF4-FFF2-40B4-BE49-F238E27FC236}">
                <a16:creationId xmlns:a16="http://schemas.microsoft.com/office/drawing/2014/main" id="{0AF40D90-AC2C-2490-A0B4-76C4A91496AE}"/>
              </a:ext>
            </a:extLst>
          </p:cNvPr>
          <p:cNvSpPr txBox="1"/>
          <p:nvPr/>
        </p:nvSpPr>
        <p:spPr>
          <a:xfrm>
            <a:off x="1349825" y="1943100"/>
            <a:ext cx="15588349" cy="1723549"/>
          </a:xfrm>
          <a:prstGeom prst="rect">
            <a:avLst/>
          </a:prstGeom>
        </p:spPr>
        <p:txBody>
          <a:bodyPr lIns="0" tIns="0" rIns="0" bIns="0" rtlCol="0" anchor="t">
            <a:spAutoFit/>
          </a:bodyPr>
          <a:lstStyle/>
          <a:p>
            <a:pPr marL="457200" indent="-457200">
              <a:buFont typeface="Arial" panose="020B0604020202020204" pitchFamily="34" charset="0"/>
              <a:buChar char="•"/>
            </a:pPr>
            <a:r>
              <a:rPr lang="vi-VN" sz="2800" dirty="0"/>
              <a:t>Trong game, các thao tác Instantiate() và Destroy() diễn ra liên tục</a:t>
            </a:r>
            <a:r>
              <a:rPr lang="en-US" sz="2800" dirty="0"/>
              <a:t> </a:t>
            </a:r>
            <a:r>
              <a:rPr lang="vi-VN" sz="2800" dirty="0"/>
              <a:t>tốn nhiều tài nguyên CPU</a:t>
            </a:r>
            <a:r>
              <a:rPr lang="en-US" sz="2800" dirty="0"/>
              <a:t>.</a:t>
            </a:r>
          </a:p>
          <a:p>
            <a:pPr marL="457200" indent="-457200">
              <a:buFont typeface="Arial" panose="020B0604020202020204" pitchFamily="34" charset="0"/>
              <a:buChar char="•"/>
            </a:pPr>
            <a:r>
              <a:rPr lang="vi-VN" sz="2800" dirty="0"/>
              <a:t>Gây ra các đợt Garbage Collection → khiến game bị giật/lag tại thời điểm đó</a:t>
            </a:r>
            <a:r>
              <a:rPr lang="en-US" sz="2800" dirty="0"/>
              <a:t>.</a:t>
            </a:r>
          </a:p>
          <a:p>
            <a:r>
              <a:rPr lang="vi-VN" sz="2800" dirty="0"/>
              <a:t>⇨</a:t>
            </a:r>
            <a:r>
              <a:rPr lang="en-US" sz="2800" dirty="0"/>
              <a:t> </a:t>
            </a:r>
            <a:r>
              <a:rPr lang="en-US" sz="2800" dirty="0" err="1"/>
              <a:t>Sử</a:t>
            </a:r>
            <a:r>
              <a:rPr lang="en-US" sz="2800" dirty="0"/>
              <a:t> </a:t>
            </a:r>
            <a:r>
              <a:rPr lang="en-US" sz="2800" dirty="0" err="1"/>
              <a:t>dụng</a:t>
            </a:r>
            <a:r>
              <a:rPr lang="en-US" sz="2800" dirty="0"/>
              <a:t> Object Pooling: </a:t>
            </a:r>
            <a:r>
              <a:rPr lang="vi-VN" sz="2800" dirty="0"/>
              <a:t>Kỹ thuật tái sử dụng các đối tượng đã tạo ra, thay vì liên tục khởi tạo và hủy</a:t>
            </a:r>
            <a:r>
              <a:rPr lang="en-US" sz="2800" dirty="0"/>
              <a:t>. </a:t>
            </a:r>
            <a:r>
              <a:rPr lang="vi-VN" sz="2800" dirty="0"/>
              <a:t>Đối tượng không dùng sẽ được ẩn đi và đưa về pool, sẵn sàng dùng lại khi cần</a:t>
            </a:r>
            <a:r>
              <a:rPr lang="en-US" sz="2800" dirty="0"/>
              <a:t>.</a:t>
            </a:r>
          </a:p>
        </p:txBody>
      </p:sp>
      <p:sp>
        <p:nvSpPr>
          <p:cNvPr id="6" name="TextBox 6">
            <a:extLst>
              <a:ext uri="{FF2B5EF4-FFF2-40B4-BE49-F238E27FC236}">
                <a16:creationId xmlns:a16="http://schemas.microsoft.com/office/drawing/2014/main" id="{9421AA99-35A4-BCA2-694B-65EC2A7BD215}"/>
              </a:ext>
            </a:extLst>
          </p:cNvPr>
          <p:cNvSpPr txBox="1"/>
          <p:nvPr/>
        </p:nvSpPr>
        <p:spPr>
          <a:xfrm>
            <a:off x="1514799" y="478334"/>
            <a:ext cx="13533120" cy="641201"/>
          </a:xfrm>
          <a:prstGeom prst="rect">
            <a:avLst/>
          </a:prstGeom>
        </p:spPr>
        <p:txBody>
          <a:bodyPr lIns="0" tIns="0" rIns="0" bIns="0" rtlCol="0" anchor="t">
            <a:spAutoFit/>
          </a:bodyPr>
          <a:lstStyle/>
          <a:p>
            <a:pPr algn="ctr">
              <a:lnSpc>
                <a:spcPts val="5040"/>
              </a:lnSpc>
            </a:pPr>
            <a:r>
              <a:rPr lang="en-US" sz="4200" b="1" dirty="0">
                <a:solidFill>
                  <a:srgbClr val="FFFFFF"/>
                </a:solidFill>
                <a:latin typeface="Arial" panose="020B0604020202020204" pitchFamily="34" charset="0"/>
                <a:cs typeface="Arial" panose="020B0604020202020204" pitchFamily="34" charset="0"/>
              </a:rPr>
              <a:t>II. PHÂN TÍCH VÀ THIẾT KẾ</a:t>
            </a:r>
          </a:p>
        </p:txBody>
      </p:sp>
      <p:sp>
        <p:nvSpPr>
          <p:cNvPr id="8" name="TextBox 8">
            <a:extLst>
              <a:ext uri="{FF2B5EF4-FFF2-40B4-BE49-F238E27FC236}">
                <a16:creationId xmlns:a16="http://schemas.microsoft.com/office/drawing/2014/main" id="{996558F4-9583-B32C-BA0B-FC33C2CF5DAC}"/>
              </a:ext>
            </a:extLst>
          </p:cNvPr>
          <p:cNvSpPr txBox="1"/>
          <p:nvPr/>
        </p:nvSpPr>
        <p:spPr>
          <a:xfrm>
            <a:off x="13197840" y="9546433"/>
            <a:ext cx="4084320" cy="410369"/>
          </a:xfrm>
          <a:prstGeom prst="rect">
            <a:avLst/>
          </a:prstGeom>
        </p:spPr>
        <p:txBody>
          <a:bodyPr lIns="0" tIns="0" rIns="0" bIns="0" rtlCol="0" anchor="t">
            <a:spAutoFit/>
          </a:bodyPr>
          <a:lstStyle/>
          <a:p>
            <a:pPr algn="r">
              <a:lnSpc>
                <a:spcPts val="3240"/>
              </a:lnSpc>
            </a:pPr>
            <a:r>
              <a:rPr lang="en-US" sz="2700" dirty="0">
                <a:solidFill>
                  <a:srgbClr val="0000FF"/>
                </a:solidFill>
                <a:latin typeface="Times New Roman" panose="02020603050405020304" pitchFamily="18" charset="0"/>
              </a:rPr>
              <a:t>11</a:t>
            </a:r>
          </a:p>
        </p:txBody>
      </p:sp>
      <p:sp>
        <p:nvSpPr>
          <p:cNvPr id="4" name="TextBox 5">
            <a:extLst>
              <a:ext uri="{FF2B5EF4-FFF2-40B4-BE49-F238E27FC236}">
                <a16:creationId xmlns:a16="http://schemas.microsoft.com/office/drawing/2014/main" id="{FB35482C-57A4-F613-759C-861EF36200E9}"/>
              </a:ext>
            </a:extLst>
          </p:cNvPr>
          <p:cNvSpPr txBox="1"/>
          <p:nvPr/>
        </p:nvSpPr>
        <p:spPr>
          <a:xfrm>
            <a:off x="533400" y="4305300"/>
            <a:ext cx="4254339" cy="2954655"/>
          </a:xfrm>
          <a:prstGeom prst="rect">
            <a:avLst/>
          </a:prstGeom>
        </p:spPr>
        <p:txBody>
          <a:bodyPr wrap="square" lIns="0" tIns="0" rIns="0" bIns="0" rtlCol="0" anchor="t">
            <a:spAutoFit/>
          </a:bodyPr>
          <a:lstStyle/>
          <a:p>
            <a:r>
              <a:rPr lang="vi-VN" sz="2400" b="1" dirty="0"/>
              <a:t>Garbage Collection là gì?</a:t>
            </a:r>
            <a:endParaRPr lang="vi-VN" sz="2400" dirty="0"/>
          </a:p>
          <a:p>
            <a:r>
              <a:rPr lang="vi-VN" sz="2400" dirty="0"/>
              <a:t>Cơ chế tự động dọn dẹp bộ nhớ trong C#/.NET, giải phóng vùng nhớ của các object không còn được sử dụng</a:t>
            </a:r>
            <a:r>
              <a:rPr lang="en-US" sz="2400" dirty="0"/>
              <a:t>. </a:t>
            </a:r>
            <a:r>
              <a:rPr lang="vi-VN" sz="2400" dirty="0"/>
              <a:t>Hoạt động ngầm, không cần lập trình viên tự quản lý bộ nhớ như C/C++</a:t>
            </a:r>
          </a:p>
          <a:p>
            <a:endParaRPr lang="vi-VN" sz="2400" dirty="0"/>
          </a:p>
        </p:txBody>
      </p:sp>
      <p:pic>
        <p:nvPicPr>
          <p:cNvPr id="9" name="Picture 8" descr="Object Pooling in Game Development: What It Is and Why It Matters | by  Thisara Kawinda | Medium">
            <a:extLst>
              <a:ext uri="{FF2B5EF4-FFF2-40B4-BE49-F238E27FC236}">
                <a16:creationId xmlns:a16="http://schemas.microsoft.com/office/drawing/2014/main" id="{EE930BC4-3CCA-8ABE-C7B3-C5CD2AB6B7B0}"/>
              </a:ext>
            </a:extLst>
          </p:cNvPr>
          <p:cNvPicPr>
            <a:picLocks noChangeAspect="1"/>
          </p:cNvPicPr>
          <p:nvPr/>
        </p:nvPicPr>
        <p:blipFill>
          <a:blip r:embed="rId4"/>
          <a:stretch>
            <a:fillRect/>
          </a:stretch>
        </p:blipFill>
        <p:spPr>
          <a:xfrm>
            <a:off x="12704769" y="4076700"/>
            <a:ext cx="4686300" cy="4686300"/>
          </a:xfrm>
          <a:prstGeom prst="rect">
            <a:avLst/>
          </a:prstGeom>
        </p:spPr>
      </p:pic>
      <p:pic>
        <p:nvPicPr>
          <p:cNvPr id="10" name="Picture 9" descr="Game Design Pattern: Object Pooling- Game Dev Series 135 | by S.J. Jason  Liu | Medium">
            <a:extLst>
              <a:ext uri="{FF2B5EF4-FFF2-40B4-BE49-F238E27FC236}">
                <a16:creationId xmlns:a16="http://schemas.microsoft.com/office/drawing/2014/main" id="{D8BBC74D-B744-6630-3D50-95FF55034671}"/>
              </a:ext>
            </a:extLst>
          </p:cNvPr>
          <p:cNvPicPr>
            <a:picLocks noChangeAspect="1"/>
          </p:cNvPicPr>
          <p:nvPr/>
        </p:nvPicPr>
        <p:blipFill>
          <a:blip r:embed="rId5"/>
          <a:stretch>
            <a:fillRect/>
          </a:stretch>
        </p:blipFill>
        <p:spPr>
          <a:xfrm>
            <a:off x="5181600" y="4076700"/>
            <a:ext cx="6248400" cy="4686300"/>
          </a:xfrm>
          <a:prstGeom prst="rect">
            <a:avLst/>
          </a:prstGeom>
        </p:spPr>
      </p:pic>
    </p:spTree>
    <p:extLst>
      <p:ext uri="{BB962C8B-B14F-4D97-AF65-F5344CB8AC3E}">
        <p14:creationId xmlns:p14="http://schemas.microsoft.com/office/powerpoint/2010/main" val="39235704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EDF7B-46CC-7CB4-D00F-665AC6E5FD8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7A5E04E-1A3B-8CC5-2A05-ECAABC226E25}"/>
              </a:ext>
            </a:extLst>
          </p:cNvPr>
          <p:cNvSpPr/>
          <p:nvPr/>
        </p:nvSpPr>
        <p:spPr>
          <a:xfrm>
            <a:off x="-34636"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6" name="TextBox 6">
            <a:extLst>
              <a:ext uri="{FF2B5EF4-FFF2-40B4-BE49-F238E27FC236}">
                <a16:creationId xmlns:a16="http://schemas.microsoft.com/office/drawing/2014/main" id="{3BFF1CA4-808E-CBC6-7373-B9AEAD15CFE9}"/>
              </a:ext>
            </a:extLst>
          </p:cNvPr>
          <p:cNvSpPr txBox="1"/>
          <p:nvPr/>
        </p:nvSpPr>
        <p:spPr>
          <a:xfrm>
            <a:off x="1514799" y="478334"/>
            <a:ext cx="13533120" cy="641201"/>
          </a:xfrm>
          <a:prstGeom prst="rect">
            <a:avLst/>
          </a:prstGeom>
        </p:spPr>
        <p:txBody>
          <a:bodyPr lIns="0" tIns="0" rIns="0" bIns="0" rtlCol="0" anchor="t">
            <a:spAutoFit/>
          </a:bodyPr>
          <a:lstStyle/>
          <a:p>
            <a:pPr algn="ctr">
              <a:lnSpc>
                <a:spcPts val="5040"/>
              </a:lnSpc>
            </a:pPr>
            <a:r>
              <a:rPr lang="en-US" sz="4200" b="1" dirty="0">
                <a:solidFill>
                  <a:srgbClr val="FFFFFF"/>
                </a:solidFill>
                <a:latin typeface="Arial" panose="020B0604020202020204" pitchFamily="34" charset="0"/>
                <a:cs typeface="Arial" panose="020B0604020202020204" pitchFamily="34" charset="0"/>
              </a:rPr>
              <a:t>III. TRIỂN KHAI KĨ THUẬT</a:t>
            </a:r>
          </a:p>
        </p:txBody>
      </p:sp>
      <p:sp>
        <p:nvSpPr>
          <p:cNvPr id="8" name="TextBox 8">
            <a:extLst>
              <a:ext uri="{FF2B5EF4-FFF2-40B4-BE49-F238E27FC236}">
                <a16:creationId xmlns:a16="http://schemas.microsoft.com/office/drawing/2014/main" id="{42116534-860C-7C04-F1C7-4B601B6B9DFF}"/>
              </a:ext>
            </a:extLst>
          </p:cNvPr>
          <p:cNvSpPr txBox="1"/>
          <p:nvPr/>
        </p:nvSpPr>
        <p:spPr>
          <a:xfrm>
            <a:off x="13197840" y="9546433"/>
            <a:ext cx="4084320" cy="410369"/>
          </a:xfrm>
          <a:prstGeom prst="rect">
            <a:avLst/>
          </a:prstGeom>
        </p:spPr>
        <p:txBody>
          <a:bodyPr lIns="0" tIns="0" rIns="0" bIns="0" rtlCol="0" anchor="t">
            <a:spAutoFit/>
          </a:bodyPr>
          <a:lstStyle/>
          <a:p>
            <a:pPr algn="r">
              <a:lnSpc>
                <a:spcPts val="3240"/>
              </a:lnSpc>
            </a:pPr>
            <a:r>
              <a:rPr lang="en-US" sz="2700">
                <a:solidFill>
                  <a:srgbClr val="0000FF"/>
                </a:solidFill>
                <a:latin typeface="Times New Roman" panose="02020603050405020304" pitchFamily="18" charset="0"/>
              </a:rPr>
              <a:t>4</a:t>
            </a:r>
          </a:p>
        </p:txBody>
      </p:sp>
      <p:sp>
        <p:nvSpPr>
          <p:cNvPr id="3" name="TextBox 5">
            <a:extLst>
              <a:ext uri="{FF2B5EF4-FFF2-40B4-BE49-F238E27FC236}">
                <a16:creationId xmlns:a16="http://schemas.microsoft.com/office/drawing/2014/main" id="{67FE9897-7684-0E94-F916-49B98B4C5963}"/>
              </a:ext>
            </a:extLst>
          </p:cNvPr>
          <p:cNvSpPr txBox="1"/>
          <p:nvPr/>
        </p:nvSpPr>
        <p:spPr>
          <a:xfrm>
            <a:off x="723900" y="2019300"/>
            <a:ext cx="16840199" cy="615553"/>
          </a:xfrm>
          <a:prstGeom prst="rect">
            <a:avLst/>
          </a:prstGeom>
        </p:spPr>
        <p:txBody>
          <a:bodyPr wrap="square" lIns="0" tIns="0" rIns="0" bIns="0" rtlCol="0" anchor="t">
            <a:spAutoFit/>
          </a:bodyPr>
          <a:lstStyle/>
          <a:p>
            <a:pPr algn="just"/>
            <a:r>
              <a:rPr lang="en-US" sz="4000" b="1" dirty="0" err="1"/>
              <a:t>Kiến</a:t>
            </a:r>
            <a:r>
              <a:rPr lang="en-US" sz="4000" b="1" dirty="0"/>
              <a:t> </a:t>
            </a:r>
            <a:r>
              <a:rPr lang="en-US" sz="4000" b="1" dirty="0" err="1"/>
              <a:t>trúc</a:t>
            </a:r>
            <a:r>
              <a:rPr lang="en-US" sz="4000" b="1" dirty="0"/>
              <a:t> </a:t>
            </a:r>
            <a:r>
              <a:rPr lang="en-US" sz="4000" b="1" dirty="0" err="1"/>
              <a:t>hệ</a:t>
            </a:r>
            <a:r>
              <a:rPr lang="en-US" sz="4000" b="1" dirty="0"/>
              <a:t> </a:t>
            </a:r>
            <a:r>
              <a:rPr lang="en-US" sz="4000" b="1" dirty="0" err="1"/>
              <a:t>thống</a:t>
            </a:r>
            <a:r>
              <a:rPr lang="en-US" sz="4000" b="1" dirty="0"/>
              <a:t>:</a:t>
            </a:r>
          </a:p>
        </p:txBody>
      </p:sp>
      <p:graphicFrame>
        <p:nvGraphicFramePr>
          <p:cNvPr id="4" name="Table 3">
            <a:extLst>
              <a:ext uri="{FF2B5EF4-FFF2-40B4-BE49-F238E27FC236}">
                <a16:creationId xmlns:a16="http://schemas.microsoft.com/office/drawing/2014/main" id="{B75C9E68-1C80-B46C-A415-03B7025450AB}"/>
              </a:ext>
            </a:extLst>
          </p:cNvPr>
          <p:cNvGraphicFramePr>
            <a:graphicFrameLocks noGrp="1"/>
          </p:cNvGraphicFramePr>
          <p:nvPr>
            <p:extLst>
              <p:ext uri="{D42A27DB-BD31-4B8C-83A1-F6EECF244321}">
                <p14:modId xmlns:p14="http://schemas.microsoft.com/office/powerpoint/2010/main" val="3437930779"/>
              </p:ext>
            </p:extLst>
          </p:nvPr>
        </p:nvGraphicFramePr>
        <p:xfrm>
          <a:off x="530627" y="2857500"/>
          <a:ext cx="17226743" cy="6217920"/>
        </p:xfrm>
        <a:graphic>
          <a:graphicData uri="http://schemas.openxmlformats.org/drawingml/2006/table">
            <a:tbl>
              <a:tblPr firstRow="1" bandRow="1">
                <a:tableStyleId>{2D5ABB26-0587-4C30-8999-92F81FD0307C}</a:tableStyleId>
              </a:tblPr>
              <a:tblGrid>
                <a:gridCol w="4653743">
                  <a:extLst>
                    <a:ext uri="{9D8B030D-6E8A-4147-A177-3AD203B41FA5}">
                      <a16:colId xmlns:a16="http://schemas.microsoft.com/office/drawing/2014/main" val="3531087194"/>
                    </a:ext>
                  </a:extLst>
                </a:gridCol>
                <a:gridCol w="12573000">
                  <a:extLst>
                    <a:ext uri="{9D8B030D-6E8A-4147-A177-3AD203B41FA5}">
                      <a16:colId xmlns:a16="http://schemas.microsoft.com/office/drawing/2014/main" val="3405496762"/>
                    </a:ext>
                  </a:extLst>
                </a:gridCol>
              </a:tblGrid>
              <a:tr h="370840">
                <a:tc>
                  <a:txBody>
                    <a:bodyPr/>
                    <a:lstStyle/>
                    <a:p>
                      <a:pPr algn="l"/>
                      <a:r>
                        <a:rPr lang="vi-VN" sz="3000" b="1" dirty="0"/>
                        <a:t>MessageManager</a:t>
                      </a:r>
                      <a:endParaRPr lang="vi-VN" sz="3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2800" dirty="0"/>
                        <a:t>Event bus trung tâm, phát và nhận sự kiện giữa các module theo Observer Pattern</a:t>
                      </a:r>
                      <a:endParaRPr lang="en-US" sz="2800" dirty="0"/>
                    </a:p>
                    <a:p>
                      <a:endParaRPr lang="vi-VN"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256175"/>
                  </a:ext>
                </a:extLst>
              </a:tr>
              <a:tr h="370840">
                <a:tc>
                  <a:txBody>
                    <a:bodyPr/>
                    <a:lstStyle/>
                    <a:p>
                      <a:pPr algn="l"/>
                      <a:r>
                        <a:rPr lang="vi-VN" sz="3000" b="1" kern="1200" dirty="0">
                          <a:solidFill>
                            <a:schemeClr val="tx1"/>
                          </a:solidFill>
                        </a:rPr>
                        <a:t>UIManager</a:t>
                      </a:r>
                      <a:endParaRPr lang="vi-VN" sz="3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2800" kern="1200" dirty="0">
                          <a:solidFill>
                            <a:schemeClr val="tx1"/>
                          </a:solidFill>
                          <a:latin typeface="+mn-lt"/>
                          <a:ea typeface="+mn-ea"/>
                          <a:cs typeface="+mn-cs"/>
                        </a:rPr>
                        <a:t>Quản lý toàn bộ giao diện:</a:t>
                      </a:r>
                      <a:r>
                        <a:rPr lang="en-US" sz="2800" kern="1200" dirty="0">
                          <a:solidFill>
                            <a:schemeClr val="tx1"/>
                          </a:solidFill>
                          <a:latin typeface="+mn-lt"/>
                          <a:ea typeface="+mn-ea"/>
                          <a:cs typeface="+mn-cs"/>
                        </a:rPr>
                        <a:t> Các Screen, Các Popup </a:t>
                      </a:r>
                      <a:r>
                        <a:rPr lang="en-US" sz="2800" kern="1200" dirty="0" err="1">
                          <a:solidFill>
                            <a:schemeClr val="tx1"/>
                          </a:solidFill>
                          <a:latin typeface="+mn-lt"/>
                          <a:ea typeface="+mn-ea"/>
                          <a:cs typeface="+mn-cs"/>
                        </a:rPr>
                        <a:t>trong</a:t>
                      </a:r>
                      <a:r>
                        <a:rPr lang="en-US" sz="2800" kern="1200" dirty="0">
                          <a:solidFill>
                            <a:schemeClr val="tx1"/>
                          </a:solidFill>
                          <a:latin typeface="+mn-lt"/>
                          <a:ea typeface="+mn-ea"/>
                          <a:cs typeface="+mn-cs"/>
                        </a:rPr>
                        <a:t> </a:t>
                      </a:r>
                      <a:r>
                        <a:rPr lang="en-US" sz="2800" kern="1200" dirty="0" err="1">
                          <a:solidFill>
                            <a:schemeClr val="tx1"/>
                          </a:solidFill>
                          <a:latin typeface="+mn-lt"/>
                          <a:ea typeface="+mn-ea"/>
                          <a:cs typeface="+mn-cs"/>
                        </a:rPr>
                        <a:t>trò</a:t>
                      </a:r>
                      <a:r>
                        <a:rPr lang="en-US" sz="2800" kern="1200" dirty="0">
                          <a:solidFill>
                            <a:schemeClr val="tx1"/>
                          </a:solidFill>
                          <a:latin typeface="+mn-lt"/>
                          <a:ea typeface="+mn-ea"/>
                          <a:cs typeface="+mn-cs"/>
                        </a:rPr>
                        <a:t> </a:t>
                      </a:r>
                      <a:r>
                        <a:rPr lang="en-US" sz="2800" kern="1200" dirty="0" err="1">
                          <a:solidFill>
                            <a:schemeClr val="tx1"/>
                          </a:solidFill>
                          <a:latin typeface="+mn-lt"/>
                          <a:ea typeface="+mn-ea"/>
                          <a:cs typeface="+mn-cs"/>
                        </a:rPr>
                        <a:t>chơi</a:t>
                      </a:r>
                      <a:r>
                        <a:rPr lang="en-US" sz="2800" kern="1200" dirty="0">
                          <a:solidFill>
                            <a:schemeClr val="tx1"/>
                          </a:solidFill>
                          <a:latin typeface="+mn-lt"/>
                          <a:ea typeface="+mn-ea"/>
                          <a:cs typeface="+mn-cs"/>
                        </a:rPr>
                        <a:t>.</a:t>
                      </a:r>
                    </a:p>
                    <a:p>
                      <a:endParaRPr lang="vi-VN"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0191329"/>
                  </a:ext>
                </a:extLst>
              </a:tr>
              <a:tr h="370840">
                <a:tc>
                  <a:txBody>
                    <a:bodyPr/>
                    <a:lstStyle/>
                    <a:p>
                      <a:pPr algn="l"/>
                      <a:r>
                        <a:rPr lang="vi-VN" sz="3000" b="1" kern="1200" dirty="0">
                          <a:solidFill>
                            <a:schemeClr val="tx1"/>
                          </a:solidFill>
                          <a:latin typeface="+mn-lt"/>
                          <a:ea typeface="+mn-ea"/>
                          <a:cs typeface="+mn-cs"/>
                        </a:rPr>
                        <a:t>GameplayManager</a:t>
                      </a:r>
                      <a:endParaRPr lang="vi-VN" sz="3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2800" kern="1200" dirty="0">
                          <a:solidFill>
                            <a:schemeClr val="tx1"/>
                          </a:solidFill>
                          <a:latin typeface="+mn-lt"/>
                          <a:ea typeface="+mn-ea"/>
                          <a:cs typeface="+mn-cs"/>
                        </a:rPr>
                        <a:t>Quản lý tiến trình màn chơi:</a:t>
                      </a:r>
                      <a:r>
                        <a:rPr lang="en-US" sz="2800" kern="1200" dirty="0">
                          <a:solidFill>
                            <a:schemeClr val="tx1"/>
                          </a:solidFill>
                          <a:latin typeface="+mn-lt"/>
                          <a:ea typeface="+mn-ea"/>
                          <a:cs typeface="+mn-cs"/>
                        </a:rPr>
                        <a:t> Load level, </a:t>
                      </a:r>
                      <a:r>
                        <a:rPr lang="en-US" sz="2800" kern="1200" dirty="0" err="1">
                          <a:solidFill>
                            <a:schemeClr val="tx1"/>
                          </a:solidFill>
                          <a:latin typeface="+mn-lt"/>
                          <a:ea typeface="+mn-ea"/>
                          <a:cs typeface="+mn-cs"/>
                        </a:rPr>
                        <a:t>khởi</a:t>
                      </a:r>
                      <a:r>
                        <a:rPr lang="en-US" sz="2800" kern="1200" dirty="0">
                          <a:solidFill>
                            <a:schemeClr val="tx1"/>
                          </a:solidFill>
                          <a:latin typeface="+mn-lt"/>
                          <a:ea typeface="+mn-ea"/>
                          <a:cs typeface="+mn-cs"/>
                        </a:rPr>
                        <a:t> </a:t>
                      </a:r>
                      <a:r>
                        <a:rPr lang="en-US" sz="2800" kern="1200" dirty="0" err="1">
                          <a:solidFill>
                            <a:schemeClr val="tx1"/>
                          </a:solidFill>
                          <a:latin typeface="+mn-lt"/>
                          <a:ea typeface="+mn-ea"/>
                          <a:cs typeface="+mn-cs"/>
                        </a:rPr>
                        <a:t>tạo</a:t>
                      </a:r>
                      <a:r>
                        <a:rPr lang="en-US" sz="2800" kern="1200" dirty="0">
                          <a:solidFill>
                            <a:schemeClr val="tx1"/>
                          </a:solidFill>
                          <a:latin typeface="+mn-lt"/>
                          <a:ea typeface="+mn-ea"/>
                          <a:cs typeface="+mn-cs"/>
                        </a:rPr>
                        <a:t> </a:t>
                      </a:r>
                      <a:r>
                        <a:rPr lang="en-US" sz="2800" kern="1200" dirty="0" err="1">
                          <a:solidFill>
                            <a:schemeClr val="tx1"/>
                          </a:solidFill>
                          <a:latin typeface="+mn-lt"/>
                          <a:ea typeface="+mn-ea"/>
                          <a:cs typeface="+mn-cs"/>
                        </a:rPr>
                        <a:t>bố</a:t>
                      </a:r>
                      <a:r>
                        <a:rPr lang="en-US" sz="2800" kern="1200" dirty="0">
                          <a:solidFill>
                            <a:schemeClr val="tx1"/>
                          </a:solidFill>
                          <a:latin typeface="+mn-lt"/>
                          <a:ea typeface="+mn-ea"/>
                          <a:cs typeface="+mn-cs"/>
                        </a:rPr>
                        <a:t> </a:t>
                      </a:r>
                      <a:r>
                        <a:rPr lang="en-US" sz="2800" kern="1200" dirty="0" err="1">
                          <a:solidFill>
                            <a:schemeClr val="tx1"/>
                          </a:solidFill>
                          <a:latin typeface="+mn-lt"/>
                          <a:ea typeface="+mn-ea"/>
                          <a:cs typeface="+mn-cs"/>
                        </a:rPr>
                        <a:t>cục</a:t>
                      </a:r>
                      <a:r>
                        <a:rPr lang="en-US" sz="2800" kern="1200" dirty="0">
                          <a:solidFill>
                            <a:schemeClr val="tx1"/>
                          </a:solidFill>
                          <a:latin typeface="+mn-lt"/>
                          <a:ea typeface="+mn-ea"/>
                          <a:cs typeface="+mn-cs"/>
                        </a:rPr>
                        <a:t> </a:t>
                      </a:r>
                      <a:r>
                        <a:rPr lang="en-US" sz="2800" kern="1200" dirty="0" err="1">
                          <a:solidFill>
                            <a:schemeClr val="tx1"/>
                          </a:solidFill>
                          <a:latin typeface="+mn-lt"/>
                          <a:ea typeface="+mn-ea"/>
                          <a:cs typeface="+mn-cs"/>
                        </a:rPr>
                        <a:t>bếp</a:t>
                      </a:r>
                      <a:r>
                        <a:rPr lang="en-US" sz="2800" kern="1200" dirty="0">
                          <a:solidFill>
                            <a:schemeClr val="tx1"/>
                          </a:solidFill>
                          <a:latin typeface="+mn-lt"/>
                          <a:ea typeface="+mn-ea"/>
                          <a:cs typeface="+mn-cs"/>
                        </a:rPr>
                        <a:t> </a:t>
                      </a:r>
                      <a:r>
                        <a:rPr lang="en-US" sz="2800" kern="1200" dirty="0" err="1">
                          <a:solidFill>
                            <a:schemeClr val="tx1"/>
                          </a:solidFill>
                          <a:latin typeface="+mn-lt"/>
                          <a:ea typeface="+mn-ea"/>
                          <a:cs typeface="+mn-cs"/>
                        </a:rPr>
                        <a:t>từ</a:t>
                      </a:r>
                      <a:r>
                        <a:rPr lang="en-US" sz="2800" kern="1200" dirty="0">
                          <a:solidFill>
                            <a:schemeClr val="tx1"/>
                          </a:solidFill>
                          <a:latin typeface="+mn-lt"/>
                          <a:ea typeface="+mn-ea"/>
                          <a:cs typeface="+mn-cs"/>
                        </a:rPr>
                        <a:t> </a:t>
                      </a:r>
                      <a:r>
                        <a:rPr lang="en-US" sz="2800" kern="1200" dirty="0" err="1">
                          <a:solidFill>
                            <a:schemeClr val="tx1"/>
                          </a:solidFill>
                          <a:latin typeface="+mn-lt"/>
                          <a:ea typeface="+mn-ea"/>
                          <a:cs typeface="+mn-cs"/>
                        </a:rPr>
                        <a:t>các</a:t>
                      </a:r>
                      <a:r>
                        <a:rPr lang="en-US" sz="2800" kern="1200" dirty="0">
                          <a:solidFill>
                            <a:schemeClr val="tx1"/>
                          </a:solidFill>
                          <a:latin typeface="+mn-lt"/>
                          <a:ea typeface="+mn-ea"/>
                          <a:cs typeface="+mn-cs"/>
                        </a:rPr>
                        <a:t> </a:t>
                      </a:r>
                      <a:r>
                        <a:rPr lang="en-US" sz="2800" kern="1200" dirty="0" err="1">
                          <a:solidFill>
                            <a:schemeClr val="tx1"/>
                          </a:solidFill>
                          <a:latin typeface="+mn-lt"/>
                          <a:ea typeface="+mn-ea"/>
                          <a:cs typeface="+mn-cs"/>
                        </a:rPr>
                        <a:t>DataLevel</a:t>
                      </a:r>
                      <a:r>
                        <a:rPr lang="en-US" sz="2800" kern="1200" dirty="0">
                          <a:solidFill>
                            <a:schemeClr val="tx1"/>
                          </a:solidFill>
                          <a:latin typeface="+mn-lt"/>
                          <a:ea typeface="+mn-ea"/>
                          <a:cs typeface="+mn-cs"/>
                        </a:rPr>
                        <a:t>, </a:t>
                      </a:r>
                      <a:r>
                        <a:rPr lang="en-US" sz="2800" kern="1200" dirty="0" err="1">
                          <a:solidFill>
                            <a:schemeClr val="tx1"/>
                          </a:solidFill>
                          <a:latin typeface="+mn-lt"/>
                          <a:ea typeface="+mn-ea"/>
                          <a:cs typeface="+mn-cs"/>
                        </a:rPr>
                        <a:t>quản</a:t>
                      </a:r>
                      <a:r>
                        <a:rPr lang="en-US" sz="2800" kern="1200" dirty="0">
                          <a:solidFill>
                            <a:schemeClr val="tx1"/>
                          </a:solidFill>
                          <a:latin typeface="+mn-lt"/>
                          <a:ea typeface="+mn-ea"/>
                          <a:cs typeface="+mn-cs"/>
                        </a:rPr>
                        <a:t> </a:t>
                      </a:r>
                      <a:r>
                        <a:rPr lang="en-US" sz="2800" kern="1200" dirty="0" err="1">
                          <a:solidFill>
                            <a:schemeClr val="tx1"/>
                          </a:solidFill>
                          <a:latin typeface="+mn-lt"/>
                          <a:ea typeface="+mn-ea"/>
                          <a:cs typeface="+mn-cs"/>
                        </a:rPr>
                        <a:t>lý</a:t>
                      </a:r>
                      <a:r>
                        <a:rPr lang="en-US" sz="2800" kern="1200" dirty="0">
                          <a:solidFill>
                            <a:schemeClr val="tx1"/>
                          </a:solidFill>
                          <a:latin typeface="+mn-lt"/>
                          <a:ea typeface="+mn-ea"/>
                          <a:cs typeface="+mn-cs"/>
                        </a:rPr>
                        <a:t> </a:t>
                      </a:r>
                      <a:r>
                        <a:rPr lang="en-US" sz="2800" kern="1200" dirty="0" err="1">
                          <a:solidFill>
                            <a:schemeClr val="tx1"/>
                          </a:solidFill>
                          <a:latin typeface="+mn-lt"/>
                          <a:ea typeface="+mn-ea"/>
                          <a:cs typeface="+mn-cs"/>
                        </a:rPr>
                        <a:t>các</a:t>
                      </a:r>
                      <a:r>
                        <a:rPr lang="en-US" sz="2800" kern="1200" dirty="0">
                          <a:solidFill>
                            <a:schemeClr val="tx1"/>
                          </a:solidFill>
                          <a:latin typeface="+mn-lt"/>
                          <a:ea typeface="+mn-ea"/>
                          <a:cs typeface="+mn-cs"/>
                        </a:rPr>
                        <a:t> Player.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6233069"/>
                  </a:ext>
                </a:extLst>
              </a:tr>
              <a:tr h="370840">
                <a:tc>
                  <a:txBody>
                    <a:bodyPr/>
                    <a:lstStyle/>
                    <a:p>
                      <a:pPr algn="l"/>
                      <a:r>
                        <a:rPr lang="en-US" sz="3000" b="1" kern="1200" dirty="0" err="1">
                          <a:solidFill>
                            <a:srgbClr val="000000"/>
                          </a:solidFill>
                          <a:latin typeface="+mn-lt"/>
                          <a:ea typeface="+mn-ea"/>
                          <a:cs typeface="+mn-cs"/>
                        </a:rPr>
                        <a:t>SoundManager</a:t>
                      </a:r>
                      <a:endParaRPr lang="vi-VN" sz="3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kern="1200" dirty="0">
                          <a:solidFill>
                            <a:srgbClr val="000000"/>
                          </a:solidFill>
                          <a:latin typeface="+mn-lt"/>
                          <a:ea typeface="+mn-ea"/>
                          <a:cs typeface="+mn-cs"/>
                        </a:rPr>
                        <a:t>Quản </a:t>
                      </a:r>
                      <a:r>
                        <a:rPr lang="en-US" sz="2800" kern="1200" dirty="0" err="1">
                          <a:solidFill>
                            <a:srgbClr val="000000"/>
                          </a:solidFill>
                          <a:latin typeface="+mn-lt"/>
                          <a:ea typeface="+mn-ea"/>
                          <a:cs typeface="+mn-cs"/>
                        </a:rPr>
                        <a:t>lý</a:t>
                      </a:r>
                      <a:r>
                        <a:rPr lang="en-US" sz="2800" kern="1200" dirty="0">
                          <a:solidFill>
                            <a:srgbClr val="000000"/>
                          </a:solidFill>
                          <a:latin typeface="+mn-lt"/>
                          <a:ea typeface="+mn-ea"/>
                          <a:cs typeface="+mn-cs"/>
                        </a:rPr>
                        <a:t> </a:t>
                      </a:r>
                      <a:r>
                        <a:rPr lang="en-US" sz="2800" kern="1200" dirty="0" err="1">
                          <a:solidFill>
                            <a:srgbClr val="000000"/>
                          </a:solidFill>
                          <a:latin typeface="+mn-lt"/>
                          <a:ea typeface="+mn-ea"/>
                          <a:cs typeface="+mn-cs"/>
                        </a:rPr>
                        <a:t>các</a:t>
                      </a:r>
                      <a:r>
                        <a:rPr lang="en-US" sz="2800" kern="1200" dirty="0">
                          <a:solidFill>
                            <a:srgbClr val="000000"/>
                          </a:solidFill>
                          <a:latin typeface="+mn-lt"/>
                          <a:ea typeface="+mn-ea"/>
                          <a:cs typeface="+mn-cs"/>
                        </a:rPr>
                        <a:t> </a:t>
                      </a:r>
                      <a:r>
                        <a:rPr lang="en-US" sz="2800" kern="1200" dirty="0" err="1">
                          <a:solidFill>
                            <a:srgbClr val="000000"/>
                          </a:solidFill>
                          <a:latin typeface="+mn-lt"/>
                          <a:ea typeface="+mn-ea"/>
                          <a:cs typeface="+mn-cs"/>
                        </a:rPr>
                        <a:t>âm</a:t>
                      </a:r>
                      <a:r>
                        <a:rPr lang="en-US" sz="2800" kern="1200" dirty="0">
                          <a:solidFill>
                            <a:srgbClr val="000000"/>
                          </a:solidFill>
                          <a:latin typeface="+mn-lt"/>
                          <a:ea typeface="+mn-ea"/>
                          <a:cs typeface="+mn-cs"/>
                        </a:rPr>
                        <a:t> </a:t>
                      </a:r>
                      <a:r>
                        <a:rPr lang="en-US" sz="2800" kern="1200" dirty="0" err="1">
                          <a:solidFill>
                            <a:srgbClr val="000000"/>
                          </a:solidFill>
                          <a:latin typeface="+mn-lt"/>
                          <a:ea typeface="+mn-ea"/>
                          <a:cs typeface="+mn-cs"/>
                        </a:rPr>
                        <a:t>thanh</a:t>
                      </a:r>
                      <a:r>
                        <a:rPr lang="en-US" sz="2800" kern="1200" dirty="0">
                          <a:solidFill>
                            <a:srgbClr val="000000"/>
                          </a:solidFill>
                          <a:latin typeface="+mn-lt"/>
                          <a:ea typeface="+mn-ea"/>
                          <a:cs typeface="+mn-cs"/>
                        </a:rPr>
                        <a:t> </a:t>
                      </a:r>
                      <a:r>
                        <a:rPr lang="en-US" sz="2800" kern="1200" dirty="0" err="1">
                          <a:solidFill>
                            <a:srgbClr val="000000"/>
                          </a:solidFill>
                          <a:latin typeface="+mn-lt"/>
                          <a:ea typeface="+mn-ea"/>
                          <a:cs typeface="+mn-cs"/>
                        </a:rPr>
                        <a:t>trong</a:t>
                      </a:r>
                      <a:r>
                        <a:rPr lang="en-US" sz="2800" kern="1200" dirty="0">
                          <a:solidFill>
                            <a:srgbClr val="000000"/>
                          </a:solidFill>
                          <a:latin typeface="+mn-lt"/>
                          <a:ea typeface="+mn-ea"/>
                          <a:cs typeface="+mn-cs"/>
                        </a:rPr>
                        <a:t> </a:t>
                      </a:r>
                      <a:r>
                        <a:rPr lang="en-US" sz="2800" kern="1200" dirty="0" err="1">
                          <a:solidFill>
                            <a:srgbClr val="000000"/>
                          </a:solidFill>
                          <a:latin typeface="+mn-lt"/>
                          <a:ea typeface="+mn-ea"/>
                          <a:cs typeface="+mn-cs"/>
                        </a:rPr>
                        <a:t>trò</a:t>
                      </a:r>
                      <a:r>
                        <a:rPr lang="en-US" sz="2800" kern="1200" dirty="0">
                          <a:solidFill>
                            <a:srgbClr val="000000"/>
                          </a:solidFill>
                          <a:latin typeface="+mn-lt"/>
                          <a:ea typeface="+mn-ea"/>
                          <a:cs typeface="+mn-cs"/>
                        </a:rPr>
                        <a:t> </a:t>
                      </a:r>
                      <a:r>
                        <a:rPr lang="en-US" sz="2800" kern="1200" dirty="0" err="1">
                          <a:solidFill>
                            <a:srgbClr val="000000"/>
                          </a:solidFill>
                          <a:latin typeface="+mn-lt"/>
                          <a:ea typeface="+mn-ea"/>
                          <a:cs typeface="+mn-cs"/>
                        </a:rPr>
                        <a:t>chơi</a:t>
                      </a:r>
                      <a:r>
                        <a:rPr lang="en-US" sz="2800" kern="1200" dirty="0">
                          <a:solidFill>
                            <a:srgbClr val="000000"/>
                          </a:solidFill>
                          <a:latin typeface="+mn-lt"/>
                          <a:ea typeface="+mn-ea"/>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1148572"/>
                  </a:ext>
                </a:extLst>
              </a:tr>
              <a:tr h="0">
                <a:tc>
                  <a:txBody>
                    <a:bodyPr/>
                    <a:lstStyle/>
                    <a:p>
                      <a:pPr algn="l"/>
                      <a:r>
                        <a:rPr lang="en-US" sz="3000" b="1" kern="1200" dirty="0" err="1">
                          <a:solidFill>
                            <a:srgbClr val="000000"/>
                          </a:solidFill>
                          <a:latin typeface="+mn-lt"/>
                          <a:ea typeface="+mn-ea"/>
                          <a:cs typeface="+mn-cs"/>
                        </a:rPr>
                        <a:t>NetworkManager</a:t>
                      </a:r>
                      <a:endParaRPr lang="vi-VN" sz="3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2800" dirty="0"/>
                        <a:t>Khởi tạo kết nối, quản lý phòng chơi, đồng bộ trạng thái giữa Host và Client</a:t>
                      </a:r>
                      <a:r>
                        <a:rPr lang="en-US" sz="2800" dirty="0"/>
                        <a:t>.</a:t>
                      </a:r>
                      <a:endParaRPr lang="en-US" sz="2800" kern="1200" dirty="0">
                        <a:solidFill>
                          <a:srgbClr val="000000"/>
                        </a:solidFill>
                        <a:latin typeface="+mn-lt"/>
                        <a:ea typeface="+mn-ea"/>
                        <a:cs typeface="+mn-cs"/>
                      </a:endParaRPr>
                    </a:p>
                    <a:p>
                      <a:endParaRPr lang="vi-VN"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053621"/>
                  </a:ext>
                </a:extLst>
              </a:tr>
              <a:tr h="152399">
                <a:tc>
                  <a:txBody>
                    <a:bodyPr/>
                    <a:lstStyle/>
                    <a:p>
                      <a:pPr algn="l"/>
                      <a:r>
                        <a:rPr lang="vi-VN" sz="3000" b="1" kern="1200" dirty="0">
                          <a:solidFill>
                            <a:schemeClr val="tx1"/>
                          </a:solidFill>
                          <a:latin typeface="+mn-lt"/>
                          <a:ea typeface="+mn-ea"/>
                          <a:cs typeface="+mn-cs"/>
                        </a:rPr>
                        <a:t>LevelDesignerManager</a:t>
                      </a:r>
                      <a:r>
                        <a:rPr lang="vi-VN" sz="3000" kern="1200" dirty="0">
                          <a:solidFill>
                            <a:schemeClr val="tx1"/>
                          </a:solidFill>
                          <a:latin typeface="+mn-lt"/>
                          <a:ea typeface="+mn-ea"/>
                          <a:cs typeface="+mn-cs"/>
                        </a:rPr>
                        <a:t> </a:t>
                      </a:r>
                      <a:endParaRPr lang="vi-VN" sz="3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2800" kern="1200" dirty="0">
                          <a:solidFill>
                            <a:schemeClr val="tx1"/>
                          </a:solidFill>
                          <a:latin typeface="+mn-lt"/>
                          <a:ea typeface="+mn-ea"/>
                          <a:cs typeface="+mn-cs"/>
                        </a:rPr>
                        <a:t>Quản lý việc </a:t>
                      </a:r>
                      <a:r>
                        <a:rPr lang="en-US" sz="2800" kern="1200" dirty="0" err="1">
                          <a:solidFill>
                            <a:schemeClr val="tx1"/>
                          </a:solidFill>
                          <a:latin typeface="+mn-lt"/>
                          <a:ea typeface="+mn-ea"/>
                          <a:cs typeface="+mn-cs"/>
                        </a:rPr>
                        <a:t>tạo</a:t>
                      </a:r>
                      <a:r>
                        <a:rPr lang="en-US" sz="2800" kern="1200" dirty="0">
                          <a:solidFill>
                            <a:schemeClr val="tx1"/>
                          </a:solidFill>
                          <a:latin typeface="+mn-lt"/>
                          <a:ea typeface="+mn-ea"/>
                          <a:cs typeface="+mn-cs"/>
                        </a:rPr>
                        <a:t> </a:t>
                      </a:r>
                      <a:r>
                        <a:rPr lang="en-US" sz="2800" kern="1200" dirty="0" err="1">
                          <a:solidFill>
                            <a:schemeClr val="tx1"/>
                          </a:solidFill>
                          <a:latin typeface="+mn-lt"/>
                          <a:ea typeface="+mn-ea"/>
                          <a:cs typeface="+mn-cs"/>
                        </a:rPr>
                        <a:t>và</a:t>
                      </a:r>
                      <a:r>
                        <a:rPr lang="en-US" sz="2800" kern="1200" dirty="0">
                          <a:solidFill>
                            <a:schemeClr val="tx1"/>
                          </a:solidFill>
                          <a:latin typeface="+mn-lt"/>
                          <a:ea typeface="+mn-ea"/>
                          <a:cs typeface="+mn-cs"/>
                        </a:rPr>
                        <a:t> </a:t>
                      </a:r>
                      <a:r>
                        <a:rPr lang="en-US" sz="2800" kern="1200" dirty="0" err="1">
                          <a:solidFill>
                            <a:schemeClr val="tx1"/>
                          </a:solidFill>
                          <a:latin typeface="+mn-lt"/>
                          <a:ea typeface="+mn-ea"/>
                          <a:cs typeface="+mn-cs"/>
                        </a:rPr>
                        <a:t>lưu</a:t>
                      </a:r>
                      <a:r>
                        <a:rPr lang="en-US" sz="2800" kern="1200" dirty="0">
                          <a:solidFill>
                            <a:schemeClr val="tx1"/>
                          </a:solidFill>
                          <a:latin typeface="+mn-lt"/>
                          <a:ea typeface="+mn-ea"/>
                          <a:cs typeface="+mn-cs"/>
                        </a:rPr>
                        <a:t> </a:t>
                      </a:r>
                      <a:r>
                        <a:rPr lang="en-US" sz="2800" kern="1200" dirty="0" err="1">
                          <a:solidFill>
                            <a:schemeClr val="tx1"/>
                          </a:solidFill>
                          <a:latin typeface="+mn-lt"/>
                          <a:ea typeface="+mn-ea"/>
                          <a:cs typeface="+mn-cs"/>
                        </a:rPr>
                        <a:t>các</a:t>
                      </a:r>
                      <a:r>
                        <a:rPr lang="en-US" sz="2800" kern="1200" dirty="0">
                          <a:solidFill>
                            <a:schemeClr val="tx1"/>
                          </a:solidFill>
                          <a:latin typeface="+mn-lt"/>
                          <a:ea typeface="+mn-ea"/>
                          <a:cs typeface="+mn-cs"/>
                        </a:rPr>
                        <a:t> level data.</a:t>
                      </a:r>
                      <a:endParaRPr lang="en-US" sz="2800" kern="1200" dirty="0">
                        <a:solidFill>
                          <a:srgbClr val="000000"/>
                        </a:solidFill>
                        <a:latin typeface="+mn-lt"/>
                        <a:ea typeface="+mn-ea"/>
                        <a:cs typeface="+mn-cs"/>
                      </a:endParaRPr>
                    </a:p>
                    <a:p>
                      <a:endParaRPr lang="vi-VN"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022760"/>
                  </a:ext>
                </a:extLst>
              </a:tr>
              <a:tr h="152399">
                <a:tc>
                  <a:txBody>
                    <a:bodyPr/>
                    <a:lstStyle/>
                    <a:p>
                      <a:pPr algn="l"/>
                      <a:r>
                        <a:rPr lang="en-US" sz="3000" b="1" kern="1200" dirty="0">
                          <a:solidFill>
                            <a:srgbClr val="000000"/>
                          </a:solidFill>
                          <a:latin typeface="+mn-lt"/>
                          <a:ea typeface="+mn-ea"/>
                          <a:cs typeface="+mn-cs"/>
                        </a:rPr>
                        <a:t>Data</a:t>
                      </a:r>
                      <a:endParaRPr lang="vi-VN" sz="3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kern="1200" dirty="0">
                          <a:solidFill>
                            <a:srgbClr val="000000"/>
                          </a:solidFill>
                          <a:latin typeface="+mn-lt"/>
                          <a:ea typeface="+mn-ea"/>
                          <a:cs typeface="+mn-cs"/>
                        </a:rPr>
                        <a:t>Các </a:t>
                      </a:r>
                      <a:r>
                        <a:rPr lang="en-US" sz="2800" kern="1200" dirty="0" err="1">
                          <a:solidFill>
                            <a:srgbClr val="000000"/>
                          </a:solidFill>
                          <a:latin typeface="+mn-lt"/>
                          <a:ea typeface="+mn-ea"/>
                          <a:cs typeface="+mn-cs"/>
                        </a:rPr>
                        <a:t>ScriptableObject</a:t>
                      </a:r>
                      <a:r>
                        <a:rPr lang="en-US" sz="2800" kern="1200" dirty="0">
                          <a:solidFill>
                            <a:srgbClr val="000000"/>
                          </a:solidFill>
                          <a:latin typeface="+mn-lt"/>
                          <a:ea typeface="+mn-ea"/>
                          <a:cs typeface="+mn-cs"/>
                        </a:rPr>
                        <a:t> </a:t>
                      </a:r>
                      <a:r>
                        <a:rPr lang="en-US" sz="2800" kern="1200" dirty="0" err="1">
                          <a:solidFill>
                            <a:srgbClr val="000000"/>
                          </a:solidFill>
                          <a:latin typeface="+mn-lt"/>
                          <a:ea typeface="+mn-ea"/>
                          <a:cs typeface="+mn-cs"/>
                        </a:rPr>
                        <a:t>lưu</a:t>
                      </a:r>
                      <a:r>
                        <a:rPr lang="en-US" sz="2800" kern="1200" dirty="0">
                          <a:solidFill>
                            <a:srgbClr val="000000"/>
                          </a:solidFill>
                          <a:latin typeface="+mn-lt"/>
                          <a:ea typeface="+mn-ea"/>
                          <a:cs typeface="+mn-cs"/>
                        </a:rPr>
                        <a:t> </a:t>
                      </a:r>
                      <a:r>
                        <a:rPr lang="en-US" sz="2800" kern="1200" dirty="0" err="1">
                          <a:solidFill>
                            <a:srgbClr val="000000"/>
                          </a:solidFill>
                          <a:latin typeface="+mn-lt"/>
                          <a:ea typeface="+mn-ea"/>
                          <a:cs typeface="+mn-cs"/>
                        </a:rPr>
                        <a:t>công</a:t>
                      </a:r>
                      <a:r>
                        <a:rPr lang="en-US" sz="2800" kern="1200" dirty="0">
                          <a:solidFill>
                            <a:srgbClr val="000000"/>
                          </a:solidFill>
                          <a:latin typeface="+mn-lt"/>
                          <a:ea typeface="+mn-ea"/>
                          <a:cs typeface="+mn-cs"/>
                        </a:rPr>
                        <a:t> </a:t>
                      </a:r>
                      <a:r>
                        <a:rPr lang="en-US" sz="2800" kern="1200" dirty="0" err="1">
                          <a:solidFill>
                            <a:srgbClr val="000000"/>
                          </a:solidFill>
                          <a:latin typeface="+mn-lt"/>
                          <a:ea typeface="+mn-ea"/>
                          <a:cs typeface="+mn-cs"/>
                        </a:rPr>
                        <a:t>thức</a:t>
                      </a:r>
                      <a:r>
                        <a:rPr lang="en-US" sz="2800" kern="1200" dirty="0">
                          <a:solidFill>
                            <a:srgbClr val="000000"/>
                          </a:solidFill>
                          <a:latin typeface="+mn-lt"/>
                          <a:ea typeface="+mn-ea"/>
                          <a:cs typeface="+mn-cs"/>
                        </a:rPr>
                        <a:t> </a:t>
                      </a:r>
                      <a:r>
                        <a:rPr lang="en-US" sz="2800" kern="1200" dirty="0" err="1">
                          <a:solidFill>
                            <a:srgbClr val="000000"/>
                          </a:solidFill>
                          <a:latin typeface="+mn-lt"/>
                          <a:ea typeface="+mn-ea"/>
                          <a:cs typeface="+mn-cs"/>
                        </a:rPr>
                        <a:t>món</a:t>
                      </a:r>
                      <a:r>
                        <a:rPr lang="en-US" sz="2800" kern="1200" dirty="0">
                          <a:solidFill>
                            <a:srgbClr val="000000"/>
                          </a:solidFill>
                          <a:latin typeface="+mn-lt"/>
                          <a:ea typeface="+mn-ea"/>
                          <a:cs typeface="+mn-cs"/>
                        </a:rPr>
                        <a:t> </a:t>
                      </a:r>
                      <a:r>
                        <a:rPr lang="en-US" sz="2800" kern="1200" dirty="0" err="1">
                          <a:solidFill>
                            <a:srgbClr val="000000"/>
                          </a:solidFill>
                          <a:latin typeface="+mn-lt"/>
                          <a:ea typeface="+mn-ea"/>
                          <a:cs typeface="+mn-cs"/>
                        </a:rPr>
                        <a:t>ăn</a:t>
                      </a:r>
                      <a:r>
                        <a:rPr lang="en-US" sz="2800" kern="1200" dirty="0">
                          <a:solidFill>
                            <a:srgbClr val="000000"/>
                          </a:solidFill>
                          <a:latin typeface="+mn-lt"/>
                          <a:ea typeface="+mn-ea"/>
                          <a:cs typeface="+mn-cs"/>
                        </a:rPr>
                        <a:t>, </a:t>
                      </a:r>
                      <a:r>
                        <a:rPr lang="en-US" sz="2800" kern="1200" dirty="0" err="1">
                          <a:solidFill>
                            <a:srgbClr val="000000"/>
                          </a:solidFill>
                          <a:latin typeface="+mn-lt"/>
                          <a:ea typeface="+mn-ea"/>
                          <a:cs typeface="+mn-cs"/>
                        </a:rPr>
                        <a:t>thông</a:t>
                      </a:r>
                      <a:r>
                        <a:rPr lang="en-US" sz="2800" kern="1200" dirty="0">
                          <a:solidFill>
                            <a:srgbClr val="000000"/>
                          </a:solidFill>
                          <a:latin typeface="+mn-lt"/>
                          <a:ea typeface="+mn-ea"/>
                          <a:cs typeface="+mn-cs"/>
                        </a:rPr>
                        <a:t> tin </a:t>
                      </a:r>
                      <a:r>
                        <a:rPr lang="en-US" sz="2800" kern="1200" dirty="0" err="1">
                          <a:solidFill>
                            <a:srgbClr val="000000"/>
                          </a:solidFill>
                          <a:latin typeface="+mn-lt"/>
                          <a:ea typeface="+mn-ea"/>
                          <a:cs typeface="+mn-cs"/>
                        </a:rPr>
                        <a:t>nguyên</a:t>
                      </a:r>
                      <a:r>
                        <a:rPr lang="en-US" sz="2800" kern="1200" dirty="0">
                          <a:solidFill>
                            <a:srgbClr val="000000"/>
                          </a:solidFill>
                          <a:latin typeface="+mn-lt"/>
                          <a:ea typeface="+mn-ea"/>
                          <a:cs typeface="+mn-cs"/>
                        </a:rPr>
                        <a:t> </a:t>
                      </a:r>
                      <a:r>
                        <a:rPr lang="en-US" sz="2800" kern="1200" dirty="0" err="1">
                          <a:solidFill>
                            <a:srgbClr val="000000"/>
                          </a:solidFill>
                          <a:latin typeface="+mn-lt"/>
                          <a:ea typeface="+mn-ea"/>
                          <a:cs typeface="+mn-cs"/>
                        </a:rPr>
                        <a:t>liệu</a:t>
                      </a:r>
                      <a:r>
                        <a:rPr lang="en-US" sz="2800" kern="1200" dirty="0">
                          <a:solidFill>
                            <a:srgbClr val="000000"/>
                          </a:solidFill>
                          <a:latin typeface="+mn-lt"/>
                          <a:ea typeface="+mn-ea"/>
                          <a:cs typeface="+mn-cs"/>
                        </a:rPr>
                        <a:t>, </a:t>
                      </a:r>
                      <a:r>
                        <a:rPr lang="en-US" sz="2800" kern="1200" dirty="0" err="1">
                          <a:solidFill>
                            <a:srgbClr val="000000"/>
                          </a:solidFill>
                          <a:latin typeface="+mn-lt"/>
                          <a:ea typeface="+mn-ea"/>
                          <a:cs typeface="+mn-cs"/>
                        </a:rPr>
                        <a:t>thông</a:t>
                      </a:r>
                      <a:r>
                        <a:rPr lang="en-US" sz="2800" kern="1200" dirty="0">
                          <a:solidFill>
                            <a:srgbClr val="000000"/>
                          </a:solidFill>
                          <a:latin typeface="+mn-lt"/>
                          <a:ea typeface="+mn-ea"/>
                          <a:cs typeface="+mn-cs"/>
                        </a:rPr>
                        <a:t> </a:t>
                      </a:r>
                      <a:r>
                        <a:rPr lang="en-US" sz="2800" kern="1200" dirty="0" err="1">
                          <a:solidFill>
                            <a:srgbClr val="000000"/>
                          </a:solidFill>
                          <a:latin typeface="+mn-lt"/>
                          <a:ea typeface="+mn-ea"/>
                          <a:cs typeface="+mn-cs"/>
                        </a:rPr>
                        <a:t>số</a:t>
                      </a:r>
                      <a:r>
                        <a:rPr lang="en-US" sz="2800" kern="1200" dirty="0">
                          <a:solidFill>
                            <a:srgbClr val="000000"/>
                          </a:solidFill>
                          <a:latin typeface="+mn-lt"/>
                          <a:ea typeface="+mn-ea"/>
                          <a:cs typeface="+mn-cs"/>
                        </a:rPr>
                        <a:t> </a:t>
                      </a:r>
                      <a:r>
                        <a:rPr lang="en-US" sz="2800" kern="1200" dirty="0" err="1">
                          <a:solidFill>
                            <a:srgbClr val="000000"/>
                          </a:solidFill>
                          <a:latin typeface="+mn-lt"/>
                          <a:ea typeface="+mn-ea"/>
                          <a:cs typeface="+mn-cs"/>
                        </a:rPr>
                        <a:t>các</a:t>
                      </a:r>
                      <a:r>
                        <a:rPr lang="en-US" sz="2800" kern="1200" dirty="0">
                          <a:solidFill>
                            <a:srgbClr val="000000"/>
                          </a:solidFill>
                          <a:latin typeface="+mn-lt"/>
                          <a:ea typeface="+mn-ea"/>
                          <a:cs typeface="+mn-cs"/>
                        </a:rPr>
                        <a:t> </a:t>
                      </a:r>
                      <a:r>
                        <a:rPr lang="en-US" sz="2800" kern="1200" dirty="0" err="1">
                          <a:solidFill>
                            <a:srgbClr val="000000"/>
                          </a:solidFill>
                          <a:latin typeface="+mn-lt"/>
                          <a:ea typeface="+mn-ea"/>
                          <a:cs typeface="+mn-cs"/>
                        </a:rPr>
                        <a:t>bếp</a:t>
                      </a:r>
                      <a:r>
                        <a:rPr lang="en-US" sz="2800" kern="1200" dirty="0">
                          <a:solidFill>
                            <a:srgbClr val="000000"/>
                          </a:solidFill>
                          <a:latin typeface="+mn-lt"/>
                          <a:ea typeface="+mn-ea"/>
                          <a:cs typeface="+mn-cs"/>
                        </a:rPr>
                        <a:t>, Các Prefab </a:t>
                      </a:r>
                      <a:r>
                        <a:rPr lang="en-US" sz="2800" kern="1200" dirty="0" err="1">
                          <a:solidFill>
                            <a:srgbClr val="000000"/>
                          </a:solidFill>
                          <a:latin typeface="+mn-lt"/>
                          <a:ea typeface="+mn-ea"/>
                          <a:cs typeface="+mn-cs"/>
                        </a:rPr>
                        <a:t>lưu</a:t>
                      </a:r>
                      <a:r>
                        <a:rPr lang="en-US" sz="2800" kern="1200" dirty="0">
                          <a:solidFill>
                            <a:srgbClr val="000000"/>
                          </a:solidFill>
                          <a:latin typeface="+mn-lt"/>
                          <a:ea typeface="+mn-ea"/>
                          <a:cs typeface="+mn-cs"/>
                        </a:rPr>
                        <a:t> </a:t>
                      </a:r>
                      <a:r>
                        <a:rPr lang="en-US" sz="2800" kern="1200" dirty="0" err="1">
                          <a:solidFill>
                            <a:srgbClr val="000000"/>
                          </a:solidFill>
                          <a:latin typeface="+mn-lt"/>
                          <a:ea typeface="+mn-ea"/>
                          <a:cs typeface="+mn-cs"/>
                        </a:rPr>
                        <a:t>cấu</a:t>
                      </a:r>
                      <a:r>
                        <a:rPr lang="en-US" sz="2800" kern="1200" dirty="0">
                          <a:solidFill>
                            <a:srgbClr val="000000"/>
                          </a:solidFill>
                          <a:latin typeface="+mn-lt"/>
                          <a:ea typeface="+mn-ea"/>
                          <a:cs typeface="+mn-cs"/>
                        </a:rPr>
                        <a:t> </a:t>
                      </a:r>
                      <a:r>
                        <a:rPr lang="en-US" sz="2800" kern="1200" dirty="0" err="1">
                          <a:solidFill>
                            <a:srgbClr val="000000"/>
                          </a:solidFill>
                          <a:latin typeface="+mn-lt"/>
                          <a:ea typeface="+mn-ea"/>
                          <a:cs typeface="+mn-cs"/>
                        </a:rPr>
                        <a:t>hình</a:t>
                      </a:r>
                      <a:r>
                        <a:rPr lang="en-US" sz="2800" kern="1200" dirty="0">
                          <a:solidFill>
                            <a:srgbClr val="000000"/>
                          </a:solidFill>
                          <a:latin typeface="+mn-lt"/>
                          <a:ea typeface="+mn-ea"/>
                          <a:cs typeface="+mn-cs"/>
                        </a:rPr>
                        <a:t> </a:t>
                      </a:r>
                      <a:r>
                        <a:rPr lang="en-US" sz="2800" kern="1200" dirty="0" err="1">
                          <a:solidFill>
                            <a:srgbClr val="000000"/>
                          </a:solidFill>
                          <a:latin typeface="+mn-lt"/>
                          <a:ea typeface="+mn-ea"/>
                          <a:cs typeface="+mn-cs"/>
                        </a:rPr>
                        <a:t>màn</a:t>
                      </a:r>
                      <a:r>
                        <a:rPr lang="en-US" sz="2800" kern="1200" dirty="0">
                          <a:solidFill>
                            <a:srgbClr val="000000"/>
                          </a:solidFill>
                          <a:latin typeface="+mn-lt"/>
                          <a:ea typeface="+mn-ea"/>
                          <a:cs typeface="+mn-cs"/>
                        </a:rPr>
                        <a:t> </a:t>
                      </a:r>
                      <a:r>
                        <a:rPr lang="en-US" sz="2800" kern="1200" dirty="0" err="1">
                          <a:solidFill>
                            <a:srgbClr val="000000"/>
                          </a:solidFill>
                          <a:latin typeface="+mn-lt"/>
                          <a:ea typeface="+mn-ea"/>
                          <a:cs typeface="+mn-cs"/>
                        </a:rPr>
                        <a:t>chơi</a:t>
                      </a:r>
                      <a:r>
                        <a:rPr lang="en-US" sz="2800" kern="1200" dirty="0">
                          <a:solidFill>
                            <a:srgbClr val="000000"/>
                          </a:solidFill>
                          <a:latin typeface="+mn-lt"/>
                          <a:ea typeface="+mn-ea"/>
                          <a:cs typeface="+mn-cs"/>
                        </a:rPr>
                        <a:t> do </a:t>
                      </a:r>
                      <a:r>
                        <a:rPr lang="en-US" sz="2800" kern="1200" dirty="0" err="1">
                          <a:solidFill>
                            <a:srgbClr val="000000"/>
                          </a:solidFill>
                          <a:latin typeface="+mn-lt"/>
                          <a:ea typeface="+mn-ea"/>
                          <a:cs typeface="+mn-cs"/>
                        </a:rPr>
                        <a:t>LevelEditor</a:t>
                      </a:r>
                      <a:r>
                        <a:rPr lang="en-US" sz="2800" kern="1200" dirty="0">
                          <a:solidFill>
                            <a:srgbClr val="000000"/>
                          </a:solidFill>
                          <a:latin typeface="+mn-lt"/>
                          <a:ea typeface="+mn-ea"/>
                          <a:cs typeface="+mn-cs"/>
                        </a:rPr>
                        <a:t> </a:t>
                      </a:r>
                      <a:r>
                        <a:rPr lang="en-US" sz="2800" kern="1200" dirty="0" err="1">
                          <a:solidFill>
                            <a:srgbClr val="000000"/>
                          </a:solidFill>
                          <a:latin typeface="+mn-lt"/>
                          <a:ea typeface="+mn-ea"/>
                          <a:cs typeface="+mn-cs"/>
                        </a:rPr>
                        <a:t>tạo</a:t>
                      </a:r>
                      <a:r>
                        <a:rPr lang="en-US" sz="2800" kern="1200" dirty="0">
                          <a:solidFill>
                            <a:srgbClr val="000000"/>
                          </a:solidFill>
                          <a:latin typeface="+mn-lt"/>
                          <a:ea typeface="+mn-ea"/>
                          <a:cs typeface="+mn-cs"/>
                        </a:rPr>
                        <a:t> </a:t>
                      </a:r>
                      <a:r>
                        <a:rPr lang="en-US" sz="2800" kern="1200" dirty="0" err="1">
                          <a:solidFill>
                            <a:srgbClr val="000000"/>
                          </a:solidFill>
                          <a:latin typeface="+mn-lt"/>
                          <a:ea typeface="+mn-ea"/>
                          <a:cs typeface="+mn-cs"/>
                        </a:rPr>
                        <a:t>ra.</a:t>
                      </a:r>
                      <a:endParaRPr lang="vi-VN"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2554869"/>
                  </a:ext>
                </a:extLst>
              </a:tr>
            </a:tbl>
          </a:graphicData>
        </a:graphic>
      </p:graphicFrame>
    </p:spTree>
    <p:extLst>
      <p:ext uri="{BB962C8B-B14F-4D97-AF65-F5344CB8AC3E}">
        <p14:creationId xmlns:p14="http://schemas.microsoft.com/office/powerpoint/2010/main" val="131063739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99D16-B1B5-0C15-DCC9-11D49976E20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26B36D6-994A-AD6B-44B9-70E4C92C05DD}"/>
              </a:ext>
            </a:extLst>
          </p:cNvPr>
          <p:cNvSpPr/>
          <p:nvPr/>
        </p:nvSpPr>
        <p:spPr>
          <a:xfrm>
            <a:off x="-20782"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5" name="TextBox 5">
            <a:extLst>
              <a:ext uri="{FF2B5EF4-FFF2-40B4-BE49-F238E27FC236}">
                <a16:creationId xmlns:a16="http://schemas.microsoft.com/office/drawing/2014/main" id="{53E9BD06-E593-AD62-7679-4F75F3496ECB}"/>
              </a:ext>
            </a:extLst>
          </p:cNvPr>
          <p:cNvSpPr txBox="1"/>
          <p:nvPr/>
        </p:nvSpPr>
        <p:spPr>
          <a:xfrm>
            <a:off x="1349825" y="1942624"/>
            <a:ext cx="15588349" cy="3816429"/>
          </a:xfrm>
          <a:prstGeom prst="rect">
            <a:avLst/>
          </a:prstGeom>
        </p:spPr>
        <p:txBody>
          <a:bodyPr lIns="0" tIns="0" rIns="0" bIns="0" rtlCol="0" anchor="t">
            <a:spAutoFit/>
          </a:bodyPr>
          <a:lstStyle/>
          <a:p>
            <a:r>
              <a:rPr lang="vi-VN" sz="3600" b="1" dirty="0"/>
              <a:t>Xử lý Input trong môi trường Multiplayer</a:t>
            </a:r>
            <a:r>
              <a:rPr lang="en-US" sz="3600" b="1" dirty="0"/>
              <a:t>:</a:t>
            </a:r>
            <a:endParaRPr lang="en-US" sz="3600" dirty="0"/>
          </a:p>
          <a:p>
            <a:pPr marL="457200" indent="-457200">
              <a:buFont typeface="Arial" panose="020B0604020202020204" pitchFamily="34" charset="0"/>
              <a:buChar char="•"/>
            </a:pPr>
            <a:r>
              <a:rPr lang="vi-VN" sz="2600" dirty="0"/>
              <a:t>📦 </a:t>
            </a:r>
            <a:r>
              <a:rPr lang="vi-VN" sz="2600" b="1" dirty="0"/>
              <a:t>NetworkInputData</a:t>
            </a:r>
            <a:r>
              <a:rPr lang="vi-VN" sz="2600" dirty="0"/>
              <a:t> — cấu trúc INetworkInput dùng để đóng gói toàn bộ input của người chơi (hướng di chuyển và các nút bấm) trong mỗi network tick, sử dụng </a:t>
            </a:r>
            <a:r>
              <a:rPr lang="vi-VN" sz="2600" b="1" dirty="0"/>
              <a:t>bit flag</a:t>
            </a:r>
            <a:r>
              <a:rPr lang="vi-VN" sz="2600" dirty="0"/>
              <a:t> để tối ưu dữ liệu truyền qua mạng. </a:t>
            </a:r>
            <a:endParaRPr lang="en-US" sz="2600" dirty="0"/>
          </a:p>
          <a:p>
            <a:pPr marL="457200" indent="-457200">
              <a:buFont typeface="Arial" panose="020B0604020202020204" pitchFamily="34" charset="0"/>
              <a:buChar char="•"/>
            </a:pPr>
            <a:r>
              <a:rPr lang="vi-VN" sz="2800" b="1" dirty="0"/>
              <a:t>🔌 INetworkInput</a:t>
            </a:r>
            <a:r>
              <a:rPr lang="vi-VN" sz="2800" dirty="0"/>
              <a:t> — interface của Photon Fusion, cho phép một struct được sử dụng làm dữ liệu input và được Fusion tự động đồng bộ giữa Client và Host theo từng network tick.</a:t>
            </a:r>
            <a:endParaRPr lang="en-US" sz="2600" dirty="0"/>
          </a:p>
          <a:p>
            <a:pPr marL="457200" indent="-457200">
              <a:buFont typeface="Arial" panose="020B0604020202020204" pitchFamily="34" charset="0"/>
              <a:buChar char="•"/>
            </a:pPr>
            <a:r>
              <a:rPr lang="vi-VN" sz="2600" dirty="0"/>
              <a:t>🎮 </a:t>
            </a:r>
            <a:r>
              <a:rPr lang="vi-VN" sz="2600" b="1" dirty="0"/>
              <a:t>Update()</a:t>
            </a:r>
            <a:r>
              <a:rPr lang="vi-VN" sz="2600" dirty="0"/>
              <a:t> — bắt phím nhấn theo frame rate, tích lũy vào pendingButtons để không bị mất input giữa các tick. </a:t>
            </a:r>
            <a:endParaRPr lang="en-US" sz="2600" dirty="0"/>
          </a:p>
          <a:p>
            <a:pPr marL="457200" indent="-457200">
              <a:buFont typeface="Arial" panose="020B0604020202020204" pitchFamily="34" charset="0"/>
              <a:buChar char="•"/>
            </a:pPr>
            <a:r>
              <a:rPr lang="vi-VN" sz="2600" dirty="0"/>
              <a:t>📡 </a:t>
            </a:r>
            <a:r>
              <a:rPr lang="vi-VN" sz="2600" b="1" dirty="0"/>
              <a:t>OnInput()</a:t>
            </a:r>
            <a:r>
              <a:rPr lang="vi-VN" sz="2600" dirty="0"/>
              <a:t> — callback do Photon Fusion gọi mỗi network tick, đóng gói input thành NetworkInputData. </a:t>
            </a:r>
            <a:endParaRPr lang="en-US" sz="2600" dirty="0"/>
          </a:p>
          <a:p>
            <a:pPr marL="457200" indent="-457200">
              <a:buFont typeface="Arial" panose="020B0604020202020204" pitchFamily="34" charset="0"/>
              <a:buChar char="•"/>
            </a:pPr>
            <a:r>
              <a:rPr lang="vi-VN" sz="2600" dirty="0"/>
              <a:t>📤 </a:t>
            </a:r>
            <a:r>
              <a:rPr lang="vi-VN" sz="2600" b="1" dirty="0"/>
              <a:t>input.Set(data)</a:t>
            </a:r>
            <a:r>
              <a:rPr lang="vi-VN" sz="2600" dirty="0"/>
              <a:t> — giao dữ liệu cho Fusion tự động gửi lên Host. </a:t>
            </a:r>
            <a:endParaRPr lang="en-US" sz="2600" dirty="0"/>
          </a:p>
          <a:p>
            <a:pPr marL="457200" indent="-457200">
              <a:buFont typeface="Arial" panose="020B0604020202020204" pitchFamily="34" charset="0"/>
              <a:buChar char="•"/>
            </a:pPr>
            <a:r>
              <a:rPr lang="vi-VN" sz="2600" dirty="0"/>
              <a:t>🖥️ </a:t>
            </a:r>
            <a:r>
              <a:rPr lang="vi-VN" sz="2600" b="1" dirty="0"/>
              <a:t>Host xử lý</a:t>
            </a:r>
            <a:r>
              <a:rPr lang="vi-VN" sz="2600" dirty="0"/>
              <a:t> — chỉ Host đọc input và thực thi logic gameplay thực sự (di chuyển, tương tác Counter).</a:t>
            </a:r>
            <a:endParaRPr lang="vi-VN" sz="2600" b="1" dirty="0"/>
          </a:p>
        </p:txBody>
      </p:sp>
      <p:sp>
        <p:nvSpPr>
          <p:cNvPr id="6" name="TextBox 6">
            <a:extLst>
              <a:ext uri="{FF2B5EF4-FFF2-40B4-BE49-F238E27FC236}">
                <a16:creationId xmlns:a16="http://schemas.microsoft.com/office/drawing/2014/main" id="{643EBDDE-1516-2E35-395B-3EC56055B2E1}"/>
              </a:ext>
            </a:extLst>
          </p:cNvPr>
          <p:cNvSpPr txBox="1"/>
          <p:nvPr/>
        </p:nvSpPr>
        <p:spPr>
          <a:xfrm>
            <a:off x="1514799" y="478334"/>
            <a:ext cx="13533120" cy="641201"/>
          </a:xfrm>
          <a:prstGeom prst="rect">
            <a:avLst/>
          </a:prstGeom>
        </p:spPr>
        <p:txBody>
          <a:bodyPr lIns="0" tIns="0" rIns="0" bIns="0" rtlCol="0" anchor="t">
            <a:spAutoFit/>
          </a:bodyPr>
          <a:lstStyle/>
          <a:p>
            <a:pPr algn="ctr">
              <a:lnSpc>
                <a:spcPts val="5040"/>
              </a:lnSpc>
            </a:pPr>
            <a:r>
              <a:rPr lang="en-US" sz="4200" b="1" dirty="0">
                <a:solidFill>
                  <a:srgbClr val="FFFFFF"/>
                </a:solidFill>
                <a:latin typeface="Arial" panose="020B0604020202020204" pitchFamily="34" charset="0"/>
                <a:cs typeface="Arial" panose="020B0604020202020204" pitchFamily="34" charset="0"/>
              </a:rPr>
              <a:t>III. TRIỂN KHAI KĨ THUẬT</a:t>
            </a:r>
          </a:p>
        </p:txBody>
      </p:sp>
      <p:sp>
        <p:nvSpPr>
          <p:cNvPr id="8" name="TextBox 8">
            <a:extLst>
              <a:ext uri="{FF2B5EF4-FFF2-40B4-BE49-F238E27FC236}">
                <a16:creationId xmlns:a16="http://schemas.microsoft.com/office/drawing/2014/main" id="{04BA0925-C997-8761-7409-C892A8449D16}"/>
              </a:ext>
            </a:extLst>
          </p:cNvPr>
          <p:cNvSpPr txBox="1"/>
          <p:nvPr/>
        </p:nvSpPr>
        <p:spPr>
          <a:xfrm>
            <a:off x="13197840" y="9546433"/>
            <a:ext cx="4084320" cy="410369"/>
          </a:xfrm>
          <a:prstGeom prst="rect">
            <a:avLst/>
          </a:prstGeom>
        </p:spPr>
        <p:txBody>
          <a:bodyPr lIns="0" tIns="0" rIns="0" bIns="0" rtlCol="0" anchor="t">
            <a:spAutoFit/>
          </a:bodyPr>
          <a:lstStyle/>
          <a:p>
            <a:pPr algn="r">
              <a:lnSpc>
                <a:spcPts val="3240"/>
              </a:lnSpc>
            </a:pPr>
            <a:r>
              <a:rPr lang="en-US" sz="2700" dirty="0">
                <a:solidFill>
                  <a:srgbClr val="0000FF"/>
                </a:solidFill>
                <a:latin typeface="Times New Roman" panose="02020603050405020304" pitchFamily="18" charset="0"/>
              </a:rPr>
              <a:t>10</a:t>
            </a:r>
          </a:p>
        </p:txBody>
      </p:sp>
    </p:spTree>
    <p:extLst>
      <p:ext uri="{BB962C8B-B14F-4D97-AF65-F5344CB8AC3E}">
        <p14:creationId xmlns:p14="http://schemas.microsoft.com/office/powerpoint/2010/main" val="364488906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vi-VN"/>
          </a:p>
        </p:txBody>
      </p:sp>
      <p:sp>
        <p:nvSpPr>
          <p:cNvPr id="3" name="TextBox 3"/>
          <p:cNvSpPr txBox="1"/>
          <p:nvPr/>
        </p:nvSpPr>
        <p:spPr>
          <a:xfrm>
            <a:off x="13197840" y="9546433"/>
            <a:ext cx="4084320" cy="410369"/>
          </a:xfrm>
          <a:prstGeom prst="rect">
            <a:avLst/>
          </a:prstGeom>
        </p:spPr>
        <p:txBody>
          <a:bodyPr lIns="0" tIns="0" rIns="0" bIns="0" rtlCol="0" anchor="t">
            <a:spAutoFit/>
          </a:bodyPr>
          <a:lstStyle/>
          <a:p>
            <a:pPr algn="r">
              <a:lnSpc>
                <a:spcPts val="3240"/>
              </a:lnSpc>
            </a:pPr>
            <a:r>
              <a:rPr lang="en-US" sz="2700">
                <a:solidFill>
                  <a:srgbClr val="0000FF"/>
                </a:solidFill>
                <a:latin typeface="Times New Roman" panose="02020603050405020304" pitchFamily="18" charset="0"/>
              </a:rPr>
              <a:t>26</a:t>
            </a:r>
          </a:p>
        </p:txBody>
      </p:sp>
      <p:sp>
        <p:nvSpPr>
          <p:cNvPr id="4" name="TextBox 4"/>
          <p:cNvSpPr txBox="1"/>
          <p:nvPr/>
        </p:nvSpPr>
        <p:spPr>
          <a:xfrm>
            <a:off x="3120390" y="4397155"/>
            <a:ext cx="12047220" cy="1744067"/>
          </a:xfrm>
          <a:prstGeom prst="rect">
            <a:avLst/>
          </a:prstGeom>
        </p:spPr>
        <p:txBody>
          <a:bodyPr lIns="0" tIns="0" rIns="0" bIns="0" rtlCol="0" anchor="t">
            <a:spAutoFit/>
          </a:bodyPr>
          <a:lstStyle/>
          <a:p>
            <a:pPr algn="ctr">
              <a:lnSpc>
                <a:spcPts val="6839"/>
              </a:lnSpc>
            </a:pPr>
            <a:r>
              <a:rPr lang="en-US" sz="5700" b="1">
                <a:solidFill>
                  <a:srgbClr val="000000"/>
                </a:solidFill>
                <a:latin typeface="Arial Bold"/>
              </a:rPr>
              <a:t>Cảm ơn thầy cô giáo và các bạn đã lắng nghe</a:t>
            </a:r>
            <a:r>
              <a:rPr lang="en-US" sz="5700" b="1">
                <a:solidFill>
                  <a:srgbClr val="000000"/>
                </a:solidFill>
                <a:latin typeface="Times New Roman" panose="02020603050405020304" pitchFamily="18" charset="0"/>
              </a:rPr>
              <a:t>!</a:t>
            </a:r>
          </a:p>
        </p:txBody>
      </p:sp>
      <p:sp>
        <p:nvSpPr>
          <p:cNvPr id="5" name="TextBox 5"/>
          <p:cNvSpPr txBox="1"/>
          <p:nvPr/>
        </p:nvSpPr>
        <p:spPr>
          <a:xfrm>
            <a:off x="2377440" y="428978"/>
            <a:ext cx="13533120" cy="641201"/>
          </a:xfrm>
          <a:prstGeom prst="rect">
            <a:avLst/>
          </a:prstGeom>
        </p:spPr>
        <p:txBody>
          <a:bodyPr lIns="0" tIns="0" rIns="0" bIns="0" rtlCol="0" anchor="t">
            <a:spAutoFit/>
          </a:bodyPr>
          <a:lstStyle/>
          <a:p>
            <a:pPr algn="ctr">
              <a:lnSpc>
                <a:spcPts val="5040"/>
              </a:lnSpc>
            </a:pPr>
            <a:r>
              <a:rPr lang="en-US" sz="4200" b="1">
                <a:solidFill>
                  <a:srgbClr val="FFFFFF"/>
                </a:solidFill>
                <a:latin typeface="Arial Bold"/>
              </a:rPr>
              <a:t>NCKH SINH VIÊN CẤP TRƯỜNG NĂM 2025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1207</TotalTime>
  <Words>2019</Words>
  <Application>Microsoft Office PowerPoint</Application>
  <PresentationFormat>Custom</PresentationFormat>
  <Paragraphs>156</Paragraphs>
  <Slides>14</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Arial Bold</vt:lpstr>
      <vt:lpstr>Times New Roman</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NCKH-2023.pptx</dc:title>
  <dc:creator>Trương Văn Minh</dc:creator>
  <cp:lastModifiedBy>Nguyễn Mạnh Hùng</cp:lastModifiedBy>
  <cp:revision>42</cp:revision>
  <dcterms:created xsi:type="dcterms:W3CDTF">2006-08-16T00:00:00Z</dcterms:created>
  <dcterms:modified xsi:type="dcterms:W3CDTF">2026-06-16T17:03:28Z</dcterms:modified>
  <dc:identifier>DAGDUDWSOjw</dc:identifier>
</cp:coreProperties>
</file>